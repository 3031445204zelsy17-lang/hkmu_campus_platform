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63B6E"/>
            </a:gs>
            <a:gs pos="100000">
              <a:srgbClr val="0E2A50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ring-1"/>
          <p:cNvSpPr/>
          <p:nvPr/>
        </p:nvSpPr>
        <p:spPr>
          <a:xfrm>
            <a:off x="8382000" y="190500"/>
            <a:ext cx="3429000" cy="3429000"/>
          </a:xfrm>
          <a:prstGeom prst="donut">
            <a:avLst>
              <a:gd name="adj" fmla="val 4000"/>
            </a:avLst>
          </a:prstGeom>
          <a:solidFill>
            <a:srgbClr val="FFFFFF">
              <a:alpha val="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ring-2"/>
          <p:cNvSpPr/>
          <p:nvPr/>
        </p:nvSpPr>
        <p:spPr>
          <a:xfrm>
            <a:off x="8953500" y="3619500"/>
            <a:ext cx="2857500" cy="2857500"/>
          </a:xfrm>
          <a:prstGeom prst="donut">
            <a:avLst>
              <a:gd name="adj" fmla="val 5000"/>
            </a:avLst>
          </a:prstGeom>
          <a:solidFill>
            <a:srgbClr val="FFFFFF">
              <a:alpha val="3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eco-dot"/>
          <p:cNvSpPr/>
          <p:nvPr/>
        </p:nvSpPr>
        <p:spPr>
          <a:xfrm>
            <a:off x="8572500" y="5143500"/>
            <a:ext cx="133350" cy="13335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brand"/>
          <p:cNvSpPr txBox="1"/>
          <p:nvPr/>
        </p:nvSpPr>
        <p:spPr>
          <a:xfrm>
            <a:off x="1047750" y="762000"/>
            <a:ext cx="4762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 spc="300">
                <a:solidFill>
                  <a:srgbClr val="FFFFFF">
                    <a:alpha val="50196"/>
                  </a:srgbClr>
                </a:solidFill>
                <a:latin typeface="MiSans"/>
                <a:ea typeface="MiSans"/>
              </a:rPr>
              <a:t>HKMU CAMPUS PLATFORM</a:t>
            </a:r>
          </a:p>
        </p:txBody>
      </p:sp>
      <p:sp>
        <p:nvSpPr>
          <p:cNvPr id="6" name="dsl:main-title"/>
          <p:cNvSpPr txBox="1"/>
          <p:nvPr/>
        </p:nvSpPr>
        <p:spPr>
          <a:xfrm>
            <a:off x="1047750" y="2438400"/>
            <a:ext cx="7239000" cy="800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4500" noProof="1">
                <a:solidFill>
                  <a:srgbClr val="FFFFFF"/>
                </a:solidFill>
                <a:latin typeface="MiSans"/>
                <a:ea typeface="MiSans"/>
              </a:rPr>
              <a:t>HKMU Campus Platform</a:t>
            </a:r>
          </a:p>
        </p:txBody>
      </p:sp>
      <p:sp>
        <p:nvSpPr>
          <p:cNvPr id="7" name="dsl:title-bar"/>
          <p:cNvSpPr/>
          <p:nvPr/>
        </p:nvSpPr>
        <p:spPr>
          <a:xfrm>
            <a:off x="1085850" y="3448050"/>
            <a:ext cx="685800" cy="5715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ub-title"/>
          <p:cNvSpPr txBox="1"/>
          <p:nvPr/>
        </p:nvSpPr>
        <p:spPr>
          <a:xfrm>
            <a:off x="1047750" y="3733800"/>
            <a:ext cx="7620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800" noProof="1">
                <a:solidFill>
                  <a:srgbClr val="D8E4F2"/>
                </a:solidFill>
                <a:latin typeface="MiSans"/>
                <a:ea typeface="MiSans"/>
              </a:rPr>
              <a:t>由学生自主开发的一站式校园平台</a:t>
            </a:r>
          </a:p>
        </p:txBody>
      </p:sp>
      <p:sp>
        <p:nvSpPr>
          <p:cNvPr id="9" name="dsl:meta"/>
          <p:cNvSpPr txBox="1"/>
          <p:nvPr/>
        </p:nvSpPr>
        <p:spPr>
          <a:xfrm>
            <a:off x="1047750" y="5829300"/>
            <a:ext cx="7239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9FB4CF"/>
                </a:solidFill>
                <a:latin typeface="MiSans"/>
                <a:ea typeface="MiSans"/>
              </a:rPr>
              <a:t>汇报人:SYF    |    2026 年 9 月 5 日    |    官方背书申请汇报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CONTENTS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七个问题,逐一如实作答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ead|s=$small"/>
          <p:cNvSpPr txBox="1"/>
          <p:nvPr/>
        </p:nvSpPr>
        <p:spPr>
          <a:xfrm>
            <a:off x="685800" y="1352550"/>
            <a:ext cx="66675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D6F88"/>
                </a:solidFill>
                <a:latin typeface="MiSans"/>
                <a:ea typeface="MiSans"/>
              </a:rPr>
              <a:t>以下目录即主任提出的尽调七问,汇报将按此顺序展开</a:t>
            </a:r>
          </a:p>
        </p:txBody>
      </p:sp>
      <p:sp>
        <p:nvSpPr>
          <p:cNvPr id="6" name="dsl:toc-n1"/>
          <p:cNvSpPr txBox="1"/>
          <p:nvPr/>
        </p:nvSpPr>
        <p:spPr>
          <a:xfrm>
            <a:off x="914400" y="17907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01</a:t>
            </a:r>
          </a:p>
        </p:txBody>
      </p:sp>
      <p:sp>
        <p:nvSpPr>
          <p:cNvPr id="7" name="dsl:toc-t1"/>
          <p:cNvSpPr txBox="1"/>
          <p:nvPr/>
        </p:nvSpPr>
        <p:spPr>
          <a:xfrm>
            <a:off x="1600200" y="17907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你们为什么做这个平台?</a:t>
            </a:r>
          </a:p>
        </p:txBody>
      </p:sp>
      <p:cxnSp>
        <p:nvCxnSpPr>
          <p:cNvPr id="8" name="dsl:toc-l1"/>
          <p:cNvCxnSpPr/>
          <p:nvPr/>
        </p:nvCxnSpPr>
        <p:spPr>
          <a:xfrm>
            <a:off x="1600200" y="2343150"/>
            <a:ext cx="8382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toc-n2"/>
          <p:cNvSpPr txBox="1"/>
          <p:nvPr/>
        </p:nvSpPr>
        <p:spPr>
          <a:xfrm>
            <a:off x="914400" y="24003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02</a:t>
            </a:r>
          </a:p>
        </p:txBody>
      </p:sp>
      <p:sp>
        <p:nvSpPr>
          <p:cNvPr id="10" name="dsl:toc-t2"/>
          <p:cNvSpPr txBox="1"/>
          <p:nvPr/>
        </p:nvSpPr>
        <p:spPr>
          <a:xfrm>
            <a:off x="1600200" y="24003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面向的用户和群体是谁?</a:t>
            </a:r>
          </a:p>
        </p:txBody>
      </p:sp>
      <p:cxnSp>
        <p:nvCxnSpPr>
          <p:cNvPr id="11" name="dsl:toc-l2"/>
          <p:cNvCxnSpPr/>
          <p:nvPr/>
        </p:nvCxnSpPr>
        <p:spPr>
          <a:xfrm>
            <a:off x="1600200" y="2952750"/>
            <a:ext cx="8382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toc-n3"/>
          <p:cNvSpPr txBox="1"/>
          <p:nvPr/>
        </p:nvSpPr>
        <p:spPr>
          <a:xfrm>
            <a:off x="914400" y="30099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03</a:t>
            </a:r>
          </a:p>
        </p:txBody>
      </p:sp>
      <p:sp>
        <p:nvSpPr>
          <p:cNvPr id="13" name="dsl:toc-t3"/>
          <p:cNvSpPr txBox="1"/>
          <p:nvPr/>
        </p:nvSpPr>
        <p:spPr>
          <a:xfrm>
            <a:off x="1600200" y="30099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用户隐私与保密协议如何保障?</a:t>
            </a:r>
          </a:p>
        </p:txBody>
      </p:sp>
      <p:cxnSp>
        <p:nvCxnSpPr>
          <p:cNvPr id="14" name="dsl:toc-l3"/>
          <p:cNvCxnSpPr/>
          <p:nvPr/>
        </p:nvCxnSpPr>
        <p:spPr>
          <a:xfrm>
            <a:off x="1600200" y="3562350"/>
            <a:ext cx="8382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toc-n4"/>
          <p:cNvSpPr txBox="1"/>
          <p:nvPr/>
        </p:nvSpPr>
        <p:spPr>
          <a:xfrm>
            <a:off x="914400" y="36195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04</a:t>
            </a:r>
          </a:p>
        </p:txBody>
      </p:sp>
      <p:sp>
        <p:nvSpPr>
          <p:cNvPr id="16" name="dsl:toc-t4"/>
          <p:cNvSpPr txBox="1"/>
          <p:nvPr/>
        </p:nvSpPr>
        <p:spPr>
          <a:xfrm>
            <a:off x="1600200" y="36195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用户数量、活跃度与反馈如何?</a:t>
            </a:r>
          </a:p>
        </p:txBody>
      </p:sp>
      <p:cxnSp>
        <p:nvCxnSpPr>
          <p:cNvPr id="17" name="dsl:toc-l4"/>
          <p:cNvCxnSpPr/>
          <p:nvPr/>
        </p:nvCxnSpPr>
        <p:spPr>
          <a:xfrm>
            <a:off x="1600200" y="4171950"/>
            <a:ext cx="8382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toc-n5"/>
          <p:cNvSpPr txBox="1"/>
          <p:nvPr/>
        </p:nvSpPr>
        <p:spPr>
          <a:xfrm>
            <a:off x="914400" y="42291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05</a:t>
            </a:r>
          </a:p>
        </p:txBody>
      </p:sp>
      <p:sp>
        <p:nvSpPr>
          <p:cNvPr id="19" name="dsl:toc-t5"/>
          <p:cNvSpPr txBox="1"/>
          <p:nvPr/>
        </p:nvSpPr>
        <p:spPr>
          <a:xfrm>
            <a:off x="1600200" y="42291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运行后台架构是怎样的?</a:t>
            </a:r>
          </a:p>
        </p:txBody>
      </p:sp>
      <p:cxnSp>
        <p:nvCxnSpPr>
          <p:cNvPr id="20" name="dsl:toc-l5"/>
          <p:cNvCxnSpPr/>
          <p:nvPr/>
        </p:nvCxnSpPr>
        <p:spPr>
          <a:xfrm>
            <a:off x="1600200" y="4781550"/>
            <a:ext cx="8382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toc-n6"/>
          <p:cNvSpPr txBox="1"/>
          <p:nvPr/>
        </p:nvSpPr>
        <p:spPr>
          <a:xfrm>
            <a:off x="914400" y="48387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06</a:t>
            </a:r>
          </a:p>
        </p:txBody>
      </p:sp>
      <p:sp>
        <p:nvSpPr>
          <p:cNvPr id="22" name="dsl:toc-t6"/>
          <p:cNvSpPr txBox="1"/>
          <p:nvPr/>
        </p:nvSpPr>
        <p:spPr>
          <a:xfrm>
            <a:off x="1600200" y="48387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后续规划是什么?是否需要资金支持?</a:t>
            </a:r>
          </a:p>
        </p:txBody>
      </p:sp>
      <p:cxnSp>
        <p:nvCxnSpPr>
          <p:cNvPr id="23" name="dsl:toc-l6"/>
          <p:cNvCxnSpPr/>
          <p:nvPr/>
        </p:nvCxnSpPr>
        <p:spPr>
          <a:xfrm>
            <a:off x="1600200" y="5391150"/>
            <a:ext cx="8382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toc-n7"/>
          <p:cNvSpPr txBox="1"/>
          <p:nvPr/>
        </p:nvSpPr>
        <p:spPr>
          <a:xfrm>
            <a:off x="914400" y="5448300"/>
            <a:ext cx="5334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07</a:t>
            </a:r>
          </a:p>
        </p:txBody>
      </p:sp>
      <p:sp>
        <p:nvSpPr>
          <p:cNvPr id="25" name="dsl:toc-t7"/>
          <p:cNvSpPr txBox="1"/>
          <p:nvPr/>
        </p:nvSpPr>
        <p:spPr>
          <a:xfrm>
            <a:off x="1600200" y="5448300"/>
            <a:ext cx="8191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22314A"/>
                </a:solidFill>
                <a:latin typeface="MiSans"/>
                <a:ea typeface="MiSans"/>
              </a:rPr>
              <a:t>发展阻碍是什么?需要哪些支持?</a:t>
            </a:r>
          </a:p>
        </p:txBody>
      </p:sp>
      <p:sp>
        <p:nvSpPr>
          <p:cNvPr id="26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7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Q1 · 为什么做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两个真实痛点,两个对应解法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ol-head-l"/>
          <p:cNvSpPr txBox="1"/>
          <p:nvPr/>
        </p:nvSpPr>
        <p:spPr>
          <a:xfrm>
            <a:off x="685800" y="1543050"/>
            <a:ext cx="285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5D6F88"/>
                </a:solidFill>
                <a:latin typeface="MiSans"/>
                <a:ea typeface="MiSans"/>
              </a:rPr>
              <a:t>痛点</a:t>
            </a:r>
          </a:p>
        </p:txBody>
      </p:sp>
      <p:sp>
        <p:nvSpPr>
          <p:cNvPr id="6" name="dsl:col-head-r"/>
          <p:cNvSpPr txBox="1"/>
          <p:nvPr/>
        </p:nvSpPr>
        <p:spPr>
          <a:xfrm>
            <a:off x="6248400" y="1543050"/>
            <a:ext cx="285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5D6F88"/>
                </a:solidFill>
                <a:latin typeface="MiSans"/>
                <a:ea typeface="MiSans"/>
              </a:rPr>
              <a:t>解法</a:t>
            </a:r>
          </a:p>
        </p:txBody>
      </p:sp>
      <p:sp>
        <p:nvSpPr>
          <p:cNvPr id="7" name="dsl:card-l1"/>
          <p:cNvSpPr/>
          <p:nvPr/>
        </p:nvSpPr>
        <p:spPr>
          <a:xfrm>
            <a:off x="685800" y="1866900"/>
            <a:ext cx="4953000" cy="14097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card-l1-bar"/>
          <p:cNvSpPr/>
          <p:nvPr/>
        </p:nvSpPr>
        <p:spPr>
          <a:xfrm>
            <a:off x="685800" y="1866900"/>
            <a:ext cx="38100" cy="14097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card-l1-title"/>
          <p:cNvSpPr txBox="1"/>
          <p:nvPr/>
        </p:nvSpPr>
        <p:spPr>
          <a:xfrm>
            <a:off x="914400" y="2057400"/>
            <a:ext cx="4476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沟通信息分散,不沉淀</a:t>
            </a:r>
          </a:p>
        </p:txBody>
      </p:sp>
      <p:sp>
        <p:nvSpPr>
          <p:cNvPr id="10" name="dsl:card-l1-desc"/>
          <p:cNvSpPr txBox="1"/>
          <p:nvPr/>
        </p:nvSpPr>
        <p:spPr>
          <a:xfrm>
            <a:off x="914400" y="2400300"/>
            <a:ext cx="43815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消息散在各种临时微信群:新生找不到、搜不到、毕业即带走</a:t>
            </a:r>
          </a:p>
        </p:txBody>
      </p:sp>
      <p:sp>
        <p:nvSpPr>
          <p:cNvPr id="11" name="dsl:card-l2"/>
          <p:cNvSpPr/>
          <p:nvPr/>
        </p:nvSpPr>
        <p:spPr>
          <a:xfrm>
            <a:off x="685800" y="3505200"/>
            <a:ext cx="4953000" cy="14097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-l2-bar"/>
          <p:cNvSpPr/>
          <p:nvPr/>
        </p:nvSpPr>
        <p:spPr>
          <a:xfrm>
            <a:off x="685800" y="3505200"/>
            <a:ext cx="38100" cy="14097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card-l2-title"/>
          <p:cNvSpPr txBox="1"/>
          <p:nvPr/>
        </p:nvSpPr>
        <p:spPr>
          <a:xfrm>
            <a:off x="914400" y="3695700"/>
            <a:ext cx="4476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选课信息分散,难规划</a:t>
            </a:r>
          </a:p>
        </p:txBody>
      </p:sp>
      <p:sp>
        <p:nvSpPr>
          <p:cNvPr id="14" name="dsl:card-l2-desc"/>
          <p:cNvSpPr txBox="1"/>
          <p:nvPr/>
        </p:nvSpPr>
        <p:spPr>
          <a:xfrm>
            <a:off x="914400" y="4038600"/>
            <a:ext cx="43815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官方信息散在多份 PDF:学生很难算清「离毕业还差什么」</a:t>
            </a:r>
          </a:p>
        </p:txBody>
      </p:sp>
      <p:pic>
        <p:nvPicPr>
          <p:cNvPr id="15" name="dsl:arrow-1|i=fas:arrow-right" descr="tmpuh8bw_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400300"/>
            <a:ext cx="381000" cy="3810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6" name="dsl:arrow-2|i=fas:arrow-right" descr="tmpuh8bw_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4038600"/>
            <a:ext cx="381000" cy="381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card-r1"/>
          <p:cNvSpPr/>
          <p:nvPr/>
        </p:nvSpPr>
        <p:spPr>
          <a:xfrm>
            <a:off x="6248400" y="1866900"/>
            <a:ext cx="5257800" cy="14097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card-r1-bar"/>
          <p:cNvSpPr/>
          <p:nvPr/>
        </p:nvSpPr>
        <p:spPr>
          <a:xfrm>
            <a:off x="6248400" y="1866900"/>
            <a:ext cx="38100" cy="14097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card-r1-title"/>
          <p:cNvSpPr txBox="1"/>
          <p:nvPr/>
        </p:nvSpPr>
        <p:spPr>
          <a:xfrm>
            <a:off x="6477000" y="20574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公开讨论区</a:t>
            </a:r>
          </a:p>
        </p:txBody>
      </p:sp>
      <p:sp>
        <p:nvSpPr>
          <p:cNvPr id="20" name="dsl:card-r1-desc"/>
          <p:cNvSpPr txBox="1"/>
          <p:nvPr/>
        </p:nvSpPr>
        <p:spPr>
          <a:xfrm>
            <a:off x="6477000" y="2400300"/>
            <a:ext cx="47625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课程、校园生活、失物招领、二手信息——可搜索、可沉淀、可传承</a:t>
            </a:r>
          </a:p>
        </p:txBody>
      </p:sp>
      <p:sp>
        <p:nvSpPr>
          <p:cNvPr id="21" name="dsl:card-r2"/>
          <p:cNvSpPr/>
          <p:nvPr/>
        </p:nvSpPr>
        <p:spPr>
          <a:xfrm>
            <a:off x="6248400" y="3505200"/>
            <a:ext cx="5257800" cy="14097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card-r2-bar"/>
          <p:cNvSpPr/>
          <p:nvPr/>
        </p:nvSpPr>
        <p:spPr>
          <a:xfrm>
            <a:off x="6248400" y="3505200"/>
            <a:ext cx="38100" cy="14097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card-r2-title"/>
          <p:cNvSpPr txBox="1"/>
          <p:nvPr/>
        </p:nvSpPr>
        <p:spPr>
          <a:xfrm>
            <a:off x="6477000" y="36957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选课规划工具</a:t>
            </a:r>
          </a:p>
        </p:txBody>
      </p:sp>
      <p:sp>
        <p:nvSpPr>
          <p:cNvPr id="24" name="dsl:card-r2-desc"/>
          <p:cNvSpPr txBox="1"/>
          <p:nvPr/>
        </p:nvSpPr>
        <p:spPr>
          <a:xfrm>
            <a:off x="6477000" y="4038600"/>
            <a:ext cx="47625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55 个专业毕业规则结构化,支持四年规划,对照官方 advice sheet 逐条核验</a:t>
            </a:r>
          </a:p>
        </p:txBody>
      </p:sp>
      <p:sp>
        <p:nvSpPr>
          <p:cNvPr id="25" name="dsl:bottom-strip"/>
          <p:cNvSpPr/>
          <p:nvPr/>
        </p:nvSpPr>
        <p:spPr>
          <a:xfrm>
            <a:off x="685800" y="5334000"/>
            <a:ext cx="10820400" cy="6858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bottom-strip-text"/>
          <p:cNvSpPr txBox="1"/>
          <p:nvPr/>
        </p:nvSpPr>
        <p:spPr>
          <a:xfrm>
            <a:off x="685800" y="5334000"/>
            <a:ext cx="108204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平台由学生自主开发、免费、无商业目的;希望未来能在学校指导下长期持续运营</a:t>
            </a:r>
          </a:p>
        </p:txBody>
      </p:sp>
      <p:sp>
        <p:nvSpPr>
          <p:cNvPr id="27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8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Q2 · 面向群体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只服务 HKMU 在读学生,不面向公众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ead|s=$body"/>
          <p:cNvSpPr txBox="1"/>
          <p:nvPr/>
        </p:nvSpPr>
        <p:spPr>
          <a:xfrm>
            <a:off x="685800" y="1504950"/>
            <a:ext cx="10820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55000"/>
              </a:lnSpc>
            </a:pPr>
            <a:r>
              <a:rPr sz="1425" noProof="1">
                <a:solidFill>
                  <a:srgbClr val="22314A"/>
                </a:solidFill>
                <a:latin typeface="MiSans"/>
                <a:ea typeface="MiSans"/>
              </a:rPr>
              <a:t>平台只对 HKMU 在读学生开放,无校外运营内容</a:t>
            </a:r>
          </a:p>
        </p:txBody>
      </p:sp>
      <p:sp>
        <p:nvSpPr>
          <p:cNvPr id="6" name="dsl:card-1"/>
          <p:cNvSpPr/>
          <p:nvPr/>
        </p:nvSpPr>
        <p:spPr>
          <a:xfrm>
            <a:off x="2019300" y="2038350"/>
            <a:ext cx="3810000" cy="18669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sl:card-1-icon|i=fas:book-open-reader" descr="tmp5v5sgrg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23241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8" name="dsl:card-1-title"/>
          <p:cNvSpPr txBox="1"/>
          <p:nvPr/>
        </p:nvSpPr>
        <p:spPr>
          <a:xfrm>
            <a:off x="2019300" y="2933700"/>
            <a:ext cx="3810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163B6E"/>
                </a:solidFill>
                <a:latin typeface="MiSans"/>
                <a:ea typeface="MiSans"/>
              </a:rPr>
              <a:t>本科生</a:t>
            </a:r>
          </a:p>
        </p:txBody>
      </p:sp>
      <p:sp>
        <p:nvSpPr>
          <p:cNvPr id="9" name="dsl:card-1-sub|s=$small"/>
          <p:cNvSpPr txBox="1"/>
          <p:nvPr/>
        </p:nvSpPr>
        <p:spPr>
          <a:xfrm>
            <a:off x="2019300" y="329565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D6F88"/>
                </a:solidFill>
                <a:latin typeface="MiSans"/>
                <a:ea typeface="MiSans"/>
              </a:rPr>
              <a:t>本科在读学生</a:t>
            </a:r>
          </a:p>
        </p:txBody>
      </p:sp>
      <p:sp>
        <p:nvSpPr>
          <p:cNvPr id="10" name="dsl:card-2"/>
          <p:cNvSpPr/>
          <p:nvPr/>
        </p:nvSpPr>
        <p:spPr>
          <a:xfrm>
            <a:off x="6362700" y="2038350"/>
            <a:ext cx="3810000" cy="18669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dsl:card-2-icon|i=fas:user-graduate" descr="tmp5v5sgrg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0" y="2324100"/>
            <a:ext cx="457200" cy="457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card-2-title"/>
          <p:cNvSpPr txBox="1"/>
          <p:nvPr/>
        </p:nvSpPr>
        <p:spPr>
          <a:xfrm>
            <a:off x="6362700" y="2933700"/>
            <a:ext cx="3810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163B6E"/>
                </a:solidFill>
                <a:latin typeface="MiSans"/>
                <a:ea typeface="MiSans"/>
              </a:rPr>
              <a:t>研究生</a:t>
            </a:r>
          </a:p>
        </p:txBody>
      </p:sp>
      <p:sp>
        <p:nvSpPr>
          <p:cNvPr id="13" name="dsl:card-2-sub|s=$small"/>
          <p:cNvSpPr txBox="1"/>
          <p:nvPr/>
        </p:nvSpPr>
        <p:spPr>
          <a:xfrm>
            <a:off x="6362700" y="329565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D6F88"/>
                </a:solidFill>
                <a:latin typeface="MiSans"/>
                <a:ea typeface="MiSans"/>
              </a:rPr>
              <a:t>硕士、博士在读学生</a:t>
            </a:r>
          </a:p>
        </p:txBody>
      </p:sp>
      <p:sp>
        <p:nvSpPr>
          <p:cNvPr id="14" name="dsl:chip-1"/>
          <p:cNvSpPr/>
          <p:nvPr/>
        </p:nvSpPr>
        <p:spPr>
          <a:xfrm>
            <a:off x="1638300" y="4476750"/>
            <a:ext cx="2667000" cy="104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dsl:chip-1-icon|i=fas:ban" descr="tmp8c2lilt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781550"/>
            <a:ext cx="285750" cy="2857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dsl:chip-1-text"/>
          <p:cNvSpPr txBox="1"/>
          <p:nvPr/>
        </p:nvSpPr>
        <p:spPr>
          <a:xfrm>
            <a:off x="2324100" y="4629150"/>
            <a:ext cx="1809750" cy="5905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22314A"/>
                </a:solidFill>
                <a:latin typeface="MiSans"/>
                <a:ea typeface="MiSans"/>
              </a:rPr>
              <a:t>不面向公众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仅校内学生使用</a:t>
            </a:r>
          </a:p>
        </p:txBody>
      </p:sp>
      <p:sp>
        <p:nvSpPr>
          <p:cNvPr id="17" name="dsl:chip-2"/>
          <p:cNvSpPr/>
          <p:nvPr/>
        </p:nvSpPr>
        <p:spPr>
          <a:xfrm>
            <a:off x="4762500" y="4476750"/>
            <a:ext cx="2667000" cy="104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chip-2-icon|i=fas:ban" descr="tmp8c2lilt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781550"/>
            <a:ext cx="285750" cy="2857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chip-2-text"/>
          <p:cNvSpPr txBox="1"/>
          <p:nvPr/>
        </p:nvSpPr>
        <p:spPr>
          <a:xfrm>
            <a:off x="5448300" y="4629150"/>
            <a:ext cx="1809750" cy="5905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22314A"/>
                </a:solidFill>
                <a:latin typeface="MiSans"/>
                <a:ea typeface="MiSans"/>
              </a:rPr>
              <a:t>无校外运营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内容仅限校园话题</a:t>
            </a:r>
          </a:p>
        </p:txBody>
      </p:sp>
      <p:sp>
        <p:nvSpPr>
          <p:cNvPr id="20" name="dsl:chip-3"/>
          <p:cNvSpPr/>
          <p:nvPr/>
        </p:nvSpPr>
        <p:spPr>
          <a:xfrm>
            <a:off x="7886700" y="4476750"/>
            <a:ext cx="2667000" cy="1047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sl:chip-3-icon|i=fas:ban" descr="tmp8c2lilt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4781550"/>
            <a:ext cx="285750" cy="2857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chip-3-text"/>
          <p:cNvSpPr txBox="1"/>
          <p:nvPr/>
        </p:nvSpPr>
        <p:spPr>
          <a:xfrm>
            <a:off x="8572500" y="4629150"/>
            <a:ext cx="1809750" cy="5905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22314A"/>
                </a:solidFill>
                <a:latin typeface="MiSans"/>
                <a:ea typeface="MiSans"/>
              </a:rPr>
              <a:t>无商业目的</a:t>
            </a:r>
          </a:p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免费,不接广告</a:t>
            </a:r>
          </a:p>
        </p:txBody>
      </p:sp>
      <p:sp>
        <p:nvSpPr>
          <p:cNvPr id="23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4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Q3 · 隐私与合规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隐私与合规:五项已落地,一项恳请复核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sl:row1-icon|i=fas:circle-check" descr="tmpj2kr2h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dsl:row1-title"/>
          <p:cNvSpPr txBox="1"/>
          <p:nvPr/>
        </p:nvSpPr>
        <p:spPr>
          <a:xfrm>
            <a:off x="1409700" y="1790700"/>
            <a:ext cx="36195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隐私政策与用户协议已上线</a:t>
            </a:r>
          </a:p>
        </p:txBody>
      </p:sp>
      <p:sp>
        <p:nvSpPr>
          <p:cNvPr id="7" name="dsl:row1-desc"/>
          <p:cNvSpPr txBox="1"/>
          <p:nvPr/>
        </p:nvSpPr>
        <p:spPr>
          <a:xfrm>
            <a:off x="5334000" y="1790700"/>
            <a:ext cx="60960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平台内可随时查阅,注册即明确告知</a:t>
            </a:r>
          </a:p>
        </p:txBody>
      </p:sp>
      <p:cxnSp>
        <p:nvCxnSpPr>
          <p:cNvPr id="8" name="dsl:row1-line"/>
          <p:cNvCxnSpPr/>
          <p:nvPr/>
        </p:nvCxnSpPr>
        <p:spPr>
          <a:xfrm>
            <a:off x="914400" y="2400300"/>
            <a:ext cx="105918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dsl:row2-icon|i=fas:circle-check" descr="tmpj2kr2h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336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dsl:row2-title"/>
          <p:cNvSpPr txBox="1"/>
          <p:nvPr/>
        </p:nvSpPr>
        <p:spPr>
          <a:xfrm>
            <a:off x="1409700" y="2419350"/>
            <a:ext cx="36195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数据最小化收集</a:t>
            </a:r>
          </a:p>
        </p:txBody>
      </p:sp>
      <p:sp>
        <p:nvSpPr>
          <p:cNvPr id="11" name="dsl:row2-desc"/>
          <p:cNvSpPr txBox="1"/>
          <p:nvPr/>
        </p:nvSpPr>
        <p:spPr>
          <a:xfrm>
            <a:off x="5334000" y="2419350"/>
            <a:ext cx="60960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不收集身份证、手机号、位置信息</a:t>
            </a:r>
          </a:p>
        </p:txBody>
      </p:sp>
      <p:cxnSp>
        <p:nvCxnSpPr>
          <p:cNvPr id="12" name="dsl:row2-line"/>
          <p:cNvCxnSpPr/>
          <p:nvPr/>
        </p:nvCxnSpPr>
        <p:spPr>
          <a:xfrm>
            <a:off x="914400" y="3028950"/>
            <a:ext cx="105918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dsl:row3-icon|i=fas:circle-check" descr="tmpj2kr2h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623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row3-title"/>
          <p:cNvSpPr txBox="1"/>
          <p:nvPr/>
        </p:nvSpPr>
        <p:spPr>
          <a:xfrm>
            <a:off x="1409700" y="3048000"/>
            <a:ext cx="36195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内容审核全场景接入</a:t>
            </a:r>
          </a:p>
        </p:txBody>
      </p:sp>
      <p:sp>
        <p:nvSpPr>
          <p:cNvPr id="15" name="dsl:row3-desc"/>
          <p:cNvSpPr txBox="1"/>
          <p:nvPr/>
        </p:nvSpPr>
        <p:spPr>
          <a:xfrm>
            <a:off x="5334000" y="3048000"/>
            <a:ext cx="60960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微信官方 imgSecCheck 机器审核 + 人工举报双通道</a:t>
            </a:r>
          </a:p>
        </p:txBody>
      </p:sp>
      <p:cxnSp>
        <p:nvCxnSpPr>
          <p:cNvPr id="16" name="dsl:row3-line"/>
          <p:cNvCxnSpPr/>
          <p:nvPr/>
        </p:nvCxnSpPr>
        <p:spPr>
          <a:xfrm>
            <a:off x="914400" y="3657600"/>
            <a:ext cx="105918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dsl:row4-icon|i=fas:circle-check" descr="tmpj2kr2h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909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8" name="dsl:row4-title"/>
          <p:cNvSpPr txBox="1"/>
          <p:nvPr/>
        </p:nvSpPr>
        <p:spPr>
          <a:xfrm>
            <a:off x="1409700" y="3676650"/>
            <a:ext cx="36195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举报与反馈机制</a:t>
            </a:r>
          </a:p>
        </p:txBody>
      </p:sp>
      <p:sp>
        <p:nvSpPr>
          <p:cNvPr id="19" name="dsl:row4-desc"/>
          <p:cNvSpPr txBox="1"/>
          <p:nvPr/>
        </p:nvSpPr>
        <p:spPr>
          <a:xfrm>
            <a:off x="5334000" y="3676650"/>
            <a:ext cx="60960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已建成并在平台内运行,问题内容可一键举报</a:t>
            </a:r>
          </a:p>
        </p:txBody>
      </p:sp>
      <p:cxnSp>
        <p:nvCxnSpPr>
          <p:cNvPr id="20" name="dsl:row4-line"/>
          <p:cNvCxnSpPr/>
          <p:nvPr/>
        </p:nvCxnSpPr>
        <p:spPr>
          <a:xfrm>
            <a:off x="914400" y="4286250"/>
            <a:ext cx="105918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dsl:row5-icon|i=fas:circle-check" descr="tmpj2kr2hz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1960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row5-title"/>
          <p:cNvSpPr txBox="1"/>
          <p:nvPr/>
        </p:nvSpPr>
        <p:spPr>
          <a:xfrm>
            <a:off x="1409700" y="4305300"/>
            <a:ext cx="36195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域名已完成 ICP 备案</a:t>
            </a:r>
          </a:p>
        </p:txBody>
      </p:sp>
      <p:sp>
        <p:nvSpPr>
          <p:cNvPr id="23" name="dsl:row5-desc"/>
          <p:cNvSpPr txBox="1"/>
          <p:nvPr/>
        </p:nvSpPr>
        <p:spPr>
          <a:xfrm>
            <a:off x="5334000" y="4305300"/>
            <a:ext cx="60960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合规运营的基础设施前提已具备</a:t>
            </a:r>
          </a:p>
        </p:txBody>
      </p:sp>
      <p:sp>
        <p:nvSpPr>
          <p:cNvPr id="24" name="dsl:bottom-bar"/>
          <p:cNvSpPr/>
          <p:nvPr/>
        </p:nvSpPr>
        <p:spPr>
          <a:xfrm>
            <a:off x="685800" y="5295900"/>
            <a:ext cx="10820400" cy="7239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sl:bottom-bar-icon|i=fas:scale-balanced" descr="tmpc39sa8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5505450"/>
            <a:ext cx="304800" cy="3048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6" name="dsl:bottom-bar-text"/>
          <p:cNvSpPr txBox="1"/>
          <p:nvPr/>
        </p:nvSpPr>
        <p:spPr>
          <a:xfrm>
            <a:off x="1714500" y="5295900"/>
            <a:ext cx="9525000" cy="723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FFFFFF"/>
                </a:solidFill>
                <a:latin typeface="MiSans"/>
                <a:ea typeface="MiSans"/>
              </a:rPr>
              <a:t>用户协议愿提交学校法务复核,并按反馈修订。</a:t>
            </a:r>
          </a:p>
        </p:txBody>
      </p:sp>
      <p:sp>
        <p:nvSpPr>
          <p:cNvPr id="27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8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Q4 · 现状数据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现状:如实呈现,不夸大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tat1-card"/>
          <p:cNvSpPr/>
          <p:nvPr/>
        </p:nvSpPr>
        <p:spPr>
          <a:xfrm>
            <a:off x="685800" y="1905000"/>
            <a:ext cx="2505075" cy="219075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tat1-num"/>
          <p:cNvSpPr txBox="1"/>
          <p:nvPr/>
        </p:nvSpPr>
        <p:spPr>
          <a:xfrm>
            <a:off x="914400" y="2209800"/>
            <a:ext cx="2047875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163B6E"/>
                </a:solidFill>
                <a:latin typeface="MiSans"/>
                <a:ea typeface="MiSans"/>
              </a:rPr>
              <a:t>310</a:t>
            </a:r>
          </a:p>
        </p:txBody>
      </p:sp>
      <p:sp>
        <p:nvSpPr>
          <p:cNvPr id="7" name="dsl:stat1-label"/>
          <p:cNvSpPr txBox="1"/>
          <p:nvPr/>
        </p:nvSpPr>
        <p:spPr>
          <a:xfrm>
            <a:off x="914400" y="2933700"/>
            <a:ext cx="204787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2314A"/>
                </a:solidFill>
                <a:latin typeface="MiSans"/>
                <a:ea typeface="MiSans"/>
              </a:rPr>
              <a:t>累计用户</a:t>
            </a:r>
          </a:p>
        </p:txBody>
      </p:sp>
      <p:sp>
        <p:nvSpPr>
          <p:cNvPr id="8" name="dsl:stat1-note|s=$small"/>
          <p:cNvSpPr txBox="1"/>
          <p:nvPr/>
        </p:nvSpPr>
        <p:spPr>
          <a:xfrm>
            <a:off x="914400" y="3257550"/>
            <a:ext cx="2047875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上线以来,真实注册用户</a:t>
            </a:r>
          </a:p>
        </p:txBody>
      </p:sp>
      <p:sp>
        <p:nvSpPr>
          <p:cNvPr id="9" name="dsl:stat2-card"/>
          <p:cNvSpPr/>
          <p:nvPr/>
        </p:nvSpPr>
        <p:spPr>
          <a:xfrm>
            <a:off x="3457575" y="1905000"/>
            <a:ext cx="2505075" cy="219075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stat2-num"/>
          <p:cNvSpPr txBox="1"/>
          <p:nvPr/>
        </p:nvSpPr>
        <p:spPr>
          <a:xfrm>
            <a:off x="3686175" y="2209800"/>
            <a:ext cx="2047875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163B6E"/>
                </a:solidFill>
                <a:latin typeface="MiSans"/>
                <a:ea typeface="MiSans"/>
              </a:rPr>
              <a:t>5-12</a:t>
            </a:r>
          </a:p>
        </p:txBody>
      </p:sp>
      <p:sp>
        <p:nvSpPr>
          <p:cNvPr id="11" name="dsl:stat2-label"/>
          <p:cNvSpPr txBox="1"/>
          <p:nvPr/>
        </p:nvSpPr>
        <p:spPr>
          <a:xfrm>
            <a:off x="3686175" y="2933700"/>
            <a:ext cx="204787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2314A"/>
                </a:solidFill>
                <a:latin typeface="MiSans"/>
                <a:ea typeface="MiSans"/>
              </a:rPr>
              <a:t>日活(个位数)</a:t>
            </a:r>
          </a:p>
        </p:txBody>
      </p:sp>
      <p:sp>
        <p:nvSpPr>
          <p:cNvPr id="12" name="dsl:stat2-note|s=$small"/>
          <p:cNvSpPr txBox="1"/>
          <p:nvPr/>
        </p:nvSpPr>
        <p:spPr>
          <a:xfrm>
            <a:off x="3686175" y="3257550"/>
            <a:ext cx="2047875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冷启动期,如实呈现</a:t>
            </a:r>
          </a:p>
        </p:txBody>
      </p:sp>
      <p:sp>
        <p:nvSpPr>
          <p:cNvPr id="13" name="dsl:stat3-card"/>
          <p:cNvSpPr/>
          <p:nvPr/>
        </p:nvSpPr>
        <p:spPr>
          <a:xfrm>
            <a:off x="6229350" y="1905000"/>
            <a:ext cx="2505075" cy="219075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tat3-num"/>
          <p:cNvSpPr txBox="1"/>
          <p:nvPr/>
        </p:nvSpPr>
        <p:spPr>
          <a:xfrm>
            <a:off x="6457950" y="2209800"/>
            <a:ext cx="2047875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163B6E"/>
                </a:solidFill>
                <a:latin typeface="MiSans"/>
                <a:ea typeface="MiSans"/>
              </a:rPr>
              <a:t>3 次</a:t>
            </a:r>
          </a:p>
        </p:txBody>
      </p:sp>
      <p:sp>
        <p:nvSpPr>
          <p:cNvPr id="15" name="dsl:stat3-label"/>
          <p:cNvSpPr txBox="1"/>
          <p:nvPr/>
        </p:nvSpPr>
        <p:spPr>
          <a:xfrm>
            <a:off x="6457950" y="2933700"/>
            <a:ext cx="204787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2314A"/>
                </a:solidFill>
                <a:latin typeface="MiSans"/>
                <a:ea typeface="MiSans"/>
              </a:rPr>
              <a:t>人均日打开</a:t>
            </a:r>
          </a:p>
        </p:txBody>
      </p:sp>
      <p:sp>
        <p:nvSpPr>
          <p:cNvPr id="16" name="dsl:stat3-note|s=$small"/>
          <p:cNvSpPr txBox="1"/>
          <p:nvPr/>
        </p:nvSpPr>
        <p:spPr>
          <a:xfrm>
            <a:off x="6457950" y="3257550"/>
            <a:ext cx="2047875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留存用户粘性,来的都算真用</a:t>
            </a:r>
          </a:p>
        </p:txBody>
      </p:sp>
      <p:sp>
        <p:nvSpPr>
          <p:cNvPr id="17" name="dsl:stat4-card"/>
          <p:cNvSpPr/>
          <p:nvPr/>
        </p:nvSpPr>
        <p:spPr>
          <a:xfrm>
            <a:off x="9001125" y="1905000"/>
            <a:ext cx="2505075" cy="219075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stat4-num"/>
          <p:cNvSpPr txBox="1"/>
          <p:nvPr/>
        </p:nvSpPr>
        <p:spPr>
          <a:xfrm>
            <a:off x="9229725" y="2209800"/>
            <a:ext cx="2047875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900" noProof="1">
                <a:solidFill>
                  <a:srgbClr val="163B6E"/>
                </a:solidFill>
                <a:latin typeface="MiSans"/>
                <a:ea typeface="MiSans"/>
              </a:rPr>
              <a:t>7/7</a:t>
            </a:r>
          </a:p>
        </p:txBody>
      </p:sp>
      <p:sp>
        <p:nvSpPr>
          <p:cNvPr id="19" name="dsl:stat4-label"/>
          <p:cNvSpPr txBox="1"/>
          <p:nvPr/>
        </p:nvSpPr>
        <p:spPr>
          <a:xfrm>
            <a:off x="9229725" y="2933700"/>
            <a:ext cx="2047875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75" noProof="1">
                <a:solidFill>
                  <a:srgbClr val="22314A"/>
                </a:solidFill>
                <a:latin typeface="MiSans"/>
                <a:ea typeface="MiSans"/>
              </a:rPr>
              <a:t>开学问卷回收</a:t>
            </a:r>
          </a:p>
        </p:txBody>
      </p:sp>
      <p:sp>
        <p:nvSpPr>
          <p:cNvPr id="20" name="dsl:stat4-note|s=$small"/>
          <p:cNvSpPr txBox="1"/>
          <p:nvPr/>
        </p:nvSpPr>
        <p:spPr>
          <a:xfrm>
            <a:off x="9229725" y="3257550"/>
            <a:ext cx="2047875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7 份问卷全部有效,持续回收中</a:t>
            </a:r>
          </a:p>
        </p:txBody>
      </p:sp>
      <p:sp>
        <p:nvSpPr>
          <p:cNvPr id="21" name="dsl:framework-strip"/>
          <p:cNvSpPr/>
          <p:nvPr/>
        </p:nvSpPr>
        <p:spPr>
          <a:xfrm>
            <a:off x="685800" y="4667250"/>
            <a:ext cx="10820400" cy="7620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framework-strip-bar"/>
          <p:cNvSpPr/>
          <p:nvPr/>
        </p:nvSpPr>
        <p:spPr>
          <a:xfrm>
            <a:off x="685800" y="4667250"/>
            <a:ext cx="38100" cy="7620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framework-text"/>
          <p:cNvSpPr txBox="1"/>
          <p:nvPr/>
        </p:nvSpPr>
        <p:spPr>
          <a:xfrm>
            <a:off x="685800" y="4667250"/>
            <a:ext cx="108204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冷启动期 · 高粘性 · 零弃用 —— 9 月开学选课季,是明确的增长窗口</a:t>
            </a:r>
          </a:p>
        </p:txBody>
      </p:sp>
      <p:sp>
        <p:nvSpPr>
          <p:cNvPr id="24" name="dsl:source-note|s=$small"/>
          <p:cNvSpPr txBox="1"/>
          <p:nvPr/>
        </p:nvSpPr>
        <p:spPr>
          <a:xfrm>
            <a:off x="685800" y="5676900"/>
            <a:ext cx="108204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数据来源:微信小程序后台与开学问卷,截至 2026-09-03</a:t>
            </a:r>
          </a:p>
        </p:txBody>
      </p:sp>
      <p:sp>
        <p:nvSpPr>
          <p:cNvPr id="25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6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Q4 · 增长逻辑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104775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增长几乎全靠分享,官方渠道是缺失的一环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art-head"/>
          <p:cNvSpPr txBox="1"/>
          <p:nvPr/>
        </p:nvSpPr>
        <p:spPr>
          <a:xfrm>
            <a:off x="685800" y="1733550"/>
            <a:ext cx="6096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22314A"/>
                </a:solidFill>
                <a:latin typeface="MiSans"/>
                <a:ea typeface="MiSans"/>
              </a:rPr>
              <a:t>新用户从哪里来</a:t>
            </a:r>
            <a:r>
              <a:rPr sz="1200" noProof="1">
                <a:solidFill>
                  <a:srgbClr val="22314A"/>
                </a:solidFill>
                <a:latin typeface="MiSans"/>
                <a:ea typeface="MiSans"/>
              </a:rPr>
              <a:t>(昨日新增 5 人)</a:t>
            </a:r>
          </a:p>
        </p:txBody>
      </p:sp>
      <p:sp>
        <p:nvSpPr>
          <p:cNvPr id="6" name="dsl:track-1"/>
          <p:cNvSpPr/>
          <p:nvPr/>
        </p:nvSpPr>
        <p:spPr>
          <a:xfrm>
            <a:off x="685800" y="2286000"/>
            <a:ext cx="5334000" cy="45720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ar-1"/>
          <p:cNvSpPr/>
          <p:nvPr/>
        </p:nvSpPr>
        <p:spPr>
          <a:xfrm>
            <a:off x="685800" y="2286000"/>
            <a:ext cx="4267200" cy="4572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bar-1-label"/>
          <p:cNvSpPr txBox="1"/>
          <p:nvPr/>
        </p:nvSpPr>
        <p:spPr>
          <a:xfrm>
            <a:off x="838200" y="2286000"/>
            <a:ext cx="28575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FFFFFF"/>
                </a:solidFill>
                <a:latin typeface="MiSans"/>
                <a:ea typeface="MiSans"/>
              </a:rPr>
              <a:t>4 人</a:t>
            </a: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 · 同学分享</a:t>
            </a:r>
          </a:p>
        </p:txBody>
      </p:sp>
      <p:sp>
        <p:nvSpPr>
          <p:cNvPr id="9" name="dsl:track-2"/>
          <p:cNvSpPr/>
          <p:nvPr/>
        </p:nvSpPr>
        <p:spPr>
          <a:xfrm>
            <a:off x="685800" y="2971800"/>
            <a:ext cx="5334000" cy="45720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ar-2"/>
          <p:cNvSpPr/>
          <p:nvPr/>
        </p:nvSpPr>
        <p:spPr>
          <a:xfrm>
            <a:off x="685800" y="2971800"/>
            <a:ext cx="1066800" cy="4572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ar-2-label"/>
          <p:cNvSpPr txBox="1"/>
          <p:nvPr/>
        </p:nvSpPr>
        <p:spPr>
          <a:xfrm>
            <a:off x="1905000" y="2971800"/>
            <a:ext cx="1905000" cy="4572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125" noProof="1">
                <a:solidFill>
                  <a:srgbClr val="22314A"/>
                </a:solidFill>
                <a:latin typeface="MiSans"/>
                <a:ea typeface="MiSans"/>
              </a:rPr>
              <a:t>1 人</a:t>
            </a:r>
            <a:r>
              <a:rPr sz="1125" noProof="1">
                <a:solidFill>
                  <a:srgbClr val="22314A"/>
                </a:solidFill>
                <a:latin typeface="MiSans"/>
                <a:ea typeface="MiSans"/>
              </a:rPr>
              <a:t> · 搜索</a:t>
            </a:r>
          </a:p>
        </p:txBody>
      </p:sp>
      <p:sp>
        <p:nvSpPr>
          <p:cNvPr id="12" name="dsl:chart-note"/>
          <p:cNvSpPr txBox="1"/>
          <p:nvPr/>
        </p:nvSpPr>
        <p:spPr>
          <a:xfrm>
            <a:off x="685800" y="3733800"/>
            <a:ext cx="60960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noProof="1">
                <a:solidFill>
                  <a:srgbClr val="5D6F88"/>
                </a:solidFill>
                <a:latin typeface="MiSans"/>
                <a:ea typeface="MiSans"/>
              </a:rPr>
              <a:t>5 个新用户里 4 个来自分享(单聊 + 长按识别);回访用户主要从任务栏回来——分享是当前唯一有效的增长引擎</a:t>
            </a:r>
          </a:p>
        </p:txBody>
      </p:sp>
      <p:sp>
        <p:nvSpPr>
          <p:cNvPr id="13" name="dsl:concl-card"/>
          <p:cNvSpPr/>
          <p:nvPr/>
        </p:nvSpPr>
        <p:spPr>
          <a:xfrm>
            <a:off x="7239000" y="1809750"/>
            <a:ext cx="4267200" cy="28575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oncl-kicker|s=$kicker"/>
          <p:cNvSpPr txBox="1"/>
          <p:nvPr/>
        </p:nvSpPr>
        <p:spPr>
          <a:xfrm>
            <a:off x="7543800" y="2076450"/>
            <a:ext cx="190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00" noProof="1" spc="225">
                <a:solidFill>
                  <a:srgbClr val="1FA383"/>
                </a:solidFill>
                <a:latin typeface="MiSans"/>
                <a:ea typeface="MiSans"/>
              </a:rPr>
              <a:t>结论</a:t>
            </a:r>
          </a:p>
        </p:txBody>
      </p:sp>
      <p:sp>
        <p:nvSpPr>
          <p:cNvPr id="15" name="dsl:concl-big"/>
          <p:cNvSpPr txBox="1"/>
          <p:nvPr/>
        </p:nvSpPr>
        <p:spPr>
          <a:xfrm>
            <a:off x="7543800" y="2343150"/>
            <a:ext cx="3657600" cy="647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163B6E"/>
                </a:solidFill>
                <a:latin typeface="MiSans"/>
                <a:ea typeface="MiSans"/>
              </a:rPr>
              <a:t>分享,几乎是唯一的增长引擎</a:t>
            </a:r>
          </a:p>
        </p:txBody>
      </p:sp>
      <p:cxnSp>
        <p:nvCxnSpPr>
          <p:cNvPr id="16" name="dsl:concl-line"/>
          <p:cNvCxnSpPr/>
          <p:nvPr/>
        </p:nvCxnSpPr>
        <p:spPr>
          <a:xfrm>
            <a:off x="7543800" y="3143250"/>
            <a:ext cx="36576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concl-body"/>
          <p:cNvSpPr txBox="1"/>
          <p:nvPr/>
        </p:nvSpPr>
        <p:spPr>
          <a:xfrm>
            <a:off x="7543800" y="3333750"/>
            <a:ext cx="3657600" cy="1066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但同学间的分享,触达不到每年 9 月入学的新生——官方渠道,是当前缺失的一环</a:t>
            </a:r>
          </a:p>
        </p:txBody>
      </p:sp>
      <p:sp>
        <p:nvSpPr>
          <p:cNvPr id="18" name="dsl:bottom-strip"/>
          <p:cNvSpPr/>
          <p:nvPr/>
        </p:nvSpPr>
        <p:spPr>
          <a:xfrm>
            <a:off x="685800" y="5219700"/>
            <a:ext cx="10820400" cy="6858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bottom-strip-bar"/>
          <p:cNvSpPr/>
          <p:nvPr/>
        </p:nvSpPr>
        <p:spPr>
          <a:xfrm>
            <a:off x="685800" y="5219700"/>
            <a:ext cx="38100" cy="6858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bottom-strip-text"/>
          <p:cNvSpPr txBox="1"/>
          <p:nvPr/>
        </p:nvSpPr>
        <p:spPr>
          <a:xfrm>
            <a:off x="685800" y="5219700"/>
            <a:ext cx="108204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163B6E"/>
                </a:solidFill>
                <a:latin typeface="MiSans"/>
                <a:ea typeface="MiSans"/>
              </a:rPr>
              <a:t>这正是本次恳请学校支持的方向:一条官方的触达渠道</a:t>
            </a:r>
          </a:p>
        </p:txBody>
      </p:sp>
      <p:sp>
        <p:nvSpPr>
          <p:cNvPr id="21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2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Q5 · 技术架构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全部自主搭建,无第三方套壳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ead|s=$small"/>
          <p:cNvSpPr txBox="1"/>
          <p:nvPr/>
        </p:nvSpPr>
        <p:spPr>
          <a:xfrm>
            <a:off x="685800" y="1333500"/>
            <a:ext cx="7620000" cy="2095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D6F88"/>
                </a:solidFill>
                <a:latin typeface="MiSans"/>
                <a:ea typeface="MiSans"/>
              </a:rPr>
              <a:t>学生 → 双端入口 → 自主后端 → 数据与内容审核,链路清晰可控</a:t>
            </a:r>
          </a:p>
        </p:txBody>
      </p:sp>
      <p:sp>
        <p:nvSpPr>
          <p:cNvPr id="6" name="dsl:box-user"/>
          <p:cNvSpPr/>
          <p:nvPr/>
        </p:nvSpPr>
        <p:spPr>
          <a:xfrm>
            <a:off x="685800" y="2857500"/>
            <a:ext cx="1619250" cy="104775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ox-user-text"/>
          <p:cNvSpPr txBox="1"/>
          <p:nvPr/>
        </p:nvSpPr>
        <p:spPr>
          <a:xfrm>
            <a:off x="685800" y="2857500"/>
            <a:ext cx="1619250" cy="1047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用户</a:t>
            </a:r>
          </a:p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C9D8EA"/>
                </a:solidFill>
                <a:latin typeface="MiSans"/>
                <a:ea typeface="MiSans"/>
              </a:rPr>
              <a:t>HKMU 学生</a:t>
            </a:r>
          </a:p>
        </p:txBody>
      </p:sp>
      <p:cxnSp>
        <p:nvCxnSpPr>
          <p:cNvPr id="8" name="dsl:arrow-u2f"/>
          <p:cNvCxnSpPr/>
          <p:nvPr/>
        </p:nvCxnSpPr>
        <p:spPr>
          <a:xfrm>
            <a:off x="2381250" y="3381375"/>
            <a:ext cx="304800" cy="0"/>
          </a:xfrm>
          <a:prstGeom prst="straightConnector1">
            <a:avLst/>
          </a:prstGeom>
          <a:ln w="25400">
            <a:solidFill>
              <a:srgbClr val="5D6F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box-front"/>
          <p:cNvSpPr/>
          <p:nvPr/>
        </p:nvSpPr>
        <p:spPr>
          <a:xfrm>
            <a:off x="2762250" y="2619375"/>
            <a:ext cx="238125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3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ox-front-title"/>
          <p:cNvSpPr txBox="1"/>
          <p:nvPr/>
        </p:nvSpPr>
        <p:spPr>
          <a:xfrm>
            <a:off x="2762250" y="2809875"/>
            <a:ext cx="23812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163B6E"/>
                </a:solidFill>
                <a:latin typeface="MiSans"/>
                <a:ea typeface="MiSans"/>
              </a:rPr>
              <a:t>双端入口</a:t>
            </a:r>
          </a:p>
        </p:txBody>
      </p:sp>
      <p:sp>
        <p:nvSpPr>
          <p:cNvPr id="11" name="dsl:box-front-sub"/>
          <p:cNvSpPr txBox="1"/>
          <p:nvPr/>
        </p:nvSpPr>
        <p:spPr>
          <a:xfrm>
            <a:off x="2762250" y="3143250"/>
            <a:ext cx="2381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微信小程序</a:t>
            </a:r>
          </a:p>
          <a:p>
            <a:pPr algn="ctr">
              <a:lnSpc>
                <a:spcPct val="16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网页版(PWA)</a:t>
            </a:r>
          </a:p>
        </p:txBody>
      </p:sp>
      <p:cxnSp>
        <p:nvCxnSpPr>
          <p:cNvPr id="12" name="dsl:arrow-f2b"/>
          <p:cNvCxnSpPr/>
          <p:nvPr/>
        </p:nvCxnSpPr>
        <p:spPr>
          <a:xfrm>
            <a:off x="5219700" y="3381375"/>
            <a:ext cx="419100" cy="0"/>
          </a:xfrm>
          <a:prstGeom prst="straightConnector1">
            <a:avLst/>
          </a:prstGeom>
          <a:ln w="25400">
            <a:solidFill>
              <a:srgbClr val="5D6F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box-back"/>
          <p:cNvSpPr/>
          <p:nvPr/>
        </p:nvSpPr>
        <p:spPr>
          <a:xfrm>
            <a:off x="5715000" y="2619375"/>
            <a:ext cx="2571750" cy="1524000"/>
          </a:xfrm>
          <a:prstGeom prst="rect">
            <a:avLst/>
          </a:prstGeom>
          <a:solidFill>
            <a:srgbClr val="E9F1FA"/>
          </a:solidFill>
          <a:ln w="25400">
            <a:solidFill>
              <a:srgbClr val="163B6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ox-back-title"/>
          <p:cNvSpPr txBox="1"/>
          <p:nvPr/>
        </p:nvSpPr>
        <p:spPr>
          <a:xfrm>
            <a:off x="5715000" y="2809875"/>
            <a:ext cx="257175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163B6E"/>
                </a:solidFill>
                <a:latin typeface="MiSans"/>
                <a:ea typeface="MiSans"/>
              </a:rPr>
              <a:t>后端服务</a:t>
            </a:r>
          </a:p>
        </p:txBody>
      </p:sp>
      <p:sp>
        <p:nvSpPr>
          <p:cNvPr id="15" name="dsl:box-back-sub"/>
          <p:cNvSpPr txBox="1"/>
          <p:nvPr/>
        </p:nvSpPr>
        <p:spPr>
          <a:xfrm>
            <a:off x="5715000" y="3143250"/>
            <a:ext cx="2571750" cy="800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6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FastAPI · Python</a:t>
            </a:r>
          </a:p>
          <a:p>
            <a:pPr algn="ctr">
              <a:lnSpc>
                <a:spcPct val="16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业务逻辑自主开发</a:t>
            </a:r>
          </a:p>
        </p:txBody>
      </p:sp>
      <p:cxnSp>
        <p:nvCxnSpPr>
          <p:cNvPr id="16" name="dsl:arrow-b2d1"/>
          <p:cNvCxnSpPr/>
          <p:nvPr/>
        </p:nvCxnSpPr>
        <p:spPr>
          <a:xfrm flipV="1">
            <a:off x="8286750" y="2219325"/>
            <a:ext cx="952500" cy="1162050"/>
          </a:xfrm>
          <a:prstGeom prst="straightConnector1">
            <a:avLst/>
          </a:prstGeom>
          <a:ln w="25400">
            <a:solidFill>
              <a:srgbClr val="5D6F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sl:arrow-b2d2"/>
          <p:cNvCxnSpPr/>
          <p:nvPr/>
        </p:nvCxnSpPr>
        <p:spPr>
          <a:xfrm>
            <a:off x="8286750" y="3381375"/>
            <a:ext cx="952500" cy="0"/>
          </a:xfrm>
          <a:prstGeom prst="straightConnector1">
            <a:avLst/>
          </a:prstGeom>
          <a:ln w="25400">
            <a:solidFill>
              <a:srgbClr val="5D6F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sl:arrow-b2d3"/>
          <p:cNvCxnSpPr/>
          <p:nvPr/>
        </p:nvCxnSpPr>
        <p:spPr>
          <a:xfrm>
            <a:off x="8286750" y="3381375"/>
            <a:ext cx="952500" cy="1200150"/>
          </a:xfrm>
          <a:prstGeom prst="straightConnector1">
            <a:avLst/>
          </a:prstGeom>
          <a:ln w="25400">
            <a:solidFill>
              <a:srgbClr val="5D6F88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box-d1"/>
          <p:cNvSpPr/>
          <p:nvPr/>
        </p:nvSpPr>
        <p:spPr>
          <a:xfrm>
            <a:off x="9239250" y="1762125"/>
            <a:ext cx="2266950" cy="914400"/>
          </a:xfrm>
          <a:prstGeom prst="rect">
            <a:avLst/>
          </a:prstGeom>
          <a:solidFill>
            <a:srgbClr val="F6F9FD"/>
          </a:solidFill>
          <a:ln w="12700">
            <a:solidFill>
              <a:srgbClr val="D9E3E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box-d1-text"/>
          <p:cNvSpPr txBox="1"/>
          <p:nvPr/>
        </p:nvSpPr>
        <p:spPr>
          <a:xfrm>
            <a:off x="9239250" y="1762125"/>
            <a:ext cx="226695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b="1" sz="1200" noProof="1">
                <a:solidFill>
                  <a:srgbClr val="163B6E"/>
                </a:solidFill>
                <a:latin typeface="MiSans"/>
                <a:ea typeface="MiSans"/>
              </a:rPr>
              <a:t>数据库</a:t>
            </a:r>
          </a:p>
          <a:p>
            <a:pPr algn="ctr">
              <a:lnSpc>
                <a:spcPct val="150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Supabase · PostgreSQL</a:t>
            </a:r>
          </a:p>
        </p:txBody>
      </p:sp>
      <p:sp>
        <p:nvSpPr>
          <p:cNvPr id="21" name="dsl:box-d2"/>
          <p:cNvSpPr/>
          <p:nvPr/>
        </p:nvSpPr>
        <p:spPr>
          <a:xfrm>
            <a:off x="9239250" y="2943225"/>
            <a:ext cx="2266950" cy="914400"/>
          </a:xfrm>
          <a:prstGeom prst="rect">
            <a:avLst/>
          </a:prstGeom>
          <a:solidFill>
            <a:srgbClr val="F6F9FD"/>
          </a:solidFill>
          <a:ln w="12700">
            <a:solidFill>
              <a:srgbClr val="D9E3E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box-d2-text"/>
          <p:cNvSpPr txBox="1"/>
          <p:nvPr/>
        </p:nvSpPr>
        <p:spPr>
          <a:xfrm>
            <a:off x="9239250" y="2943225"/>
            <a:ext cx="226695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b="1" sz="1200" noProof="1">
                <a:solidFill>
                  <a:srgbClr val="163B6E"/>
                </a:solidFill>
                <a:latin typeface="MiSans"/>
                <a:ea typeface="MiSans"/>
              </a:rPr>
              <a:t>文件存储</a:t>
            </a:r>
          </a:p>
          <a:p>
            <a:pPr algn="ctr">
              <a:lnSpc>
                <a:spcPct val="150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Supabase Storage · 头像等</a:t>
            </a:r>
          </a:p>
        </p:txBody>
      </p:sp>
      <p:sp>
        <p:nvSpPr>
          <p:cNvPr id="23" name="dsl:box-d3"/>
          <p:cNvSpPr/>
          <p:nvPr/>
        </p:nvSpPr>
        <p:spPr>
          <a:xfrm>
            <a:off x="9239250" y="4124325"/>
            <a:ext cx="2266950" cy="914400"/>
          </a:xfrm>
          <a:prstGeom prst="rect">
            <a:avLst/>
          </a:prstGeom>
          <a:solidFill>
            <a:srgbClr val="F6F9FD"/>
          </a:solidFill>
          <a:ln w="12700">
            <a:solidFill>
              <a:srgbClr val="D9E3E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box-d3-text"/>
          <p:cNvSpPr txBox="1"/>
          <p:nvPr/>
        </p:nvSpPr>
        <p:spPr>
          <a:xfrm>
            <a:off x="9239250" y="4124325"/>
            <a:ext cx="226695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b="1" sz="1200" noProof="1">
                <a:solidFill>
                  <a:srgbClr val="163B6E"/>
                </a:solidFill>
                <a:latin typeface="MiSans"/>
                <a:ea typeface="MiSans"/>
              </a:rPr>
              <a:t>内容审核</a:t>
            </a:r>
          </a:p>
          <a:p>
            <a:pPr algn="ctr">
              <a:lnSpc>
                <a:spcPct val="150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微信 imgSecCheck · 全场景</a:t>
            </a:r>
          </a:p>
        </p:txBody>
      </p:sp>
      <p:sp>
        <p:nvSpPr>
          <p:cNvPr id="25" name="dsl:chip-1"/>
          <p:cNvSpPr/>
          <p:nvPr/>
        </p:nvSpPr>
        <p:spPr>
          <a:xfrm>
            <a:off x="685800" y="5572125"/>
            <a:ext cx="3429000" cy="5334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dsl:chip-1-icon|i=fas:code-branch" descr="tmpbe4kkv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245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chip-1-text"/>
          <p:cNvSpPr txBox="1"/>
          <p:nvPr/>
        </p:nvSpPr>
        <p:spPr>
          <a:xfrm>
            <a:off x="1257300" y="5572125"/>
            <a:ext cx="27432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22314A"/>
                </a:solidFill>
                <a:latin typeface="MiSans"/>
                <a:ea typeface="MiSans"/>
              </a:rPr>
              <a:t>GitHub 版本管理 + CI 自动化测试</a:t>
            </a:r>
          </a:p>
        </p:txBody>
      </p:sp>
      <p:sp>
        <p:nvSpPr>
          <p:cNvPr id="28" name="dsl:chip-2"/>
          <p:cNvSpPr/>
          <p:nvPr/>
        </p:nvSpPr>
        <p:spPr>
          <a:xfrm>
            <a:off x="4305300" y="5572125"/>
            <a:ext cx="3238500" cy="5334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dsl:chip-2-icon|i=fas:cloud" descr="tmpbe4kkv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900" y="57245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0" name="dsl:chip-2-text"/>
          <p:cNvSpPr txBox="1"/>
          <p:nvPr/>
        </p:nvSpPr>
        <p:spPr>
          <a:xfrm>
            <a:off x="4876800" y="5572125"/>
            <a:ext cx="25527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22314A"/>
                </a:solidFill>
                <a:latin typeface="MiSans"/>
                <a:ea typeface="MiSans"/>
              </a:rPr>
              <a:t>Azure 云服务器,稳定运行</a:t>
            </a:r>
          </a:p>
        </p:txBody>
      </p:sp>
      <p:sp>
        <p:nvSpPr>
          <p:cNvPr id="31" name="dsl:chip-3"/>
          <p:cNvSpPr/>
          <p:nvPr/>
        </p:nvSpPr>
        <p:spPr>
          <a:xfrm>
            <a:off x="7734300" y="5572125"/>
            <a:ext cx="3771900" cy="5334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dsl:chip-3-icon|i=fas:database" descr="tmpbe4kkv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5724525"/>
            <a:ext cx="228600" cy="2286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3" name="dsl:chip-3-text"/>
          <p:cNvSpPr txBox="1"/>
          <p:nvPr/>
        </p:nvSpPr>
        <p:spPr>
          <a:xfrm>
            <a:off x="8305800" y="5572125"/>
            <a:ext cx="3086100" cy="5334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22314A"/>
                </a:solidFill>
                <a:latin typeface="MiSans"/>
                <a:ea typeface="MiSans"/>
              </a:rPr>
              <a:t>Supabase 数据库与文件存储</a:t>
            </a:r>
          </a:p>
        </p:txBody>
      </p:sp>
      <p:sp>
        <p:nvSpPr>
          <p:cNvPr id="34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35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Q6 · 规划与成本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节奏清晰:服务先行,不申请资金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hort-head"/>
          <p:cNvSpPr txBox="1"/>
          <p:nvPr/>
        </p:nvSpPr>
        <p:spPr>
          <a:xfrm>
            <a:off x="685800" y="17716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63B6E"/>
                </a:solidFill>
                <a:latin typeface="MiSans"/>
                <a:ea typeface="MiSans"/>
              </a:rPr>
              <a:t>短期 · 本学期</a:t>
            </a:r>
          </a:p>
        </p:txBody>
      </p:sp>
      <p:sp>
        <p:nvSpPr>
          <p:cNvPr id="6" name="dsl:short-i1-dot"/>
          <p:cNvSpPr/>
          <p:nvPr/>
        </p:nvSpPr>
        <p:spPr>
          <a:xfrm>
            <a:off x="723900" y="2266950"/>
            <a:ext cx="76200" cy="762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hort-i1"/>
          <p:cNvSpPr txBox="1"/>
          <p:nvPr/>
        </p:nvSpPr>
        <p:spPr>
          <a:xfrm>
            <a:off x="952500" y="2152650"/>
            <a:ext cx="571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22314A"/>
                </a:solidFill>
                <a:latin typeface="MiSans"/>
                <a:ea typeface="MiSans"/>
              </a:rPr>
              <a:t>选课季服务保障(全年最大需求窗口)</a:t>
            </a:r>
          </a:p>
        </p:txBody>
      </p:sp>
      <p:sp>
        <p:nvSpPr>
          <p:cNvPr id="8" name="dsl:short-i2-dot"/>
          <p:cNvSpPr/>
          <p:nvPr/>
        </p:nvSpPr>
        <p:spPr>
          <a:xfrm>
            <a:off x="723900" y="2647950"/>
            <a:ext cx="76200" cy="762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hort-i2"/>
          <p:cNvSpPr txBox="1"/>
          <p:nvPr/>
        </p:nvSpPr>
        <p:spPr>
          <a:xfrm>
            <a:off x="952500" y="2533650"/>
            <a:ext cx="571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22314A"/>
                </a:solidFill>
                <a:latin typeface="MiSans"/>
                <a:ea typeface="MiSans"/>
              </a:rPr>
              <a:t>订阅消息召回沉默用户</a:t>
            </a:r>
          </a:p>
        </p:txBody>
      </p:sp>
      <p:sp>
        <p:nvSpPr>
          <p:cNvPr id="10" name="dsl:short-i3-dot"/>
          <p:cNvSpPr/>
          <p:nvPr/>
        </p:nvSpPr>
        <p:spPr>
          <a:xfrm>
            <a:off x="723900" y="3028950"/>
            <a:ext cx="76200" cy="762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hort-i3"/>
          <p:cNvSpPr txBox="1"/>
          <p:nvPr/>
        </p:nvSpPr>
        <p:spPr>
          <a:xfrm>
            <a:off x="952500" y="2914650"/>
            <a:ext cx="571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22314A"/>
                </a:solidFill>
                <a:latin typeface="MiSans"/>
                <a:ea typeface="MiSans"/>
              </a:rPr>
              <a:t>匿名课评(正用问卷验证需求)</a:t>
            </a:r>
          </a:p>
        </p:txBody>
      </p:sp>
      <p:sp>
        <p:nvSpPr>
          <p:cNvPr id="12" name="dsl:short-i4-dot"/>
          <p:cNvSpPr/>
          <p:nvPr/>
        </p:nvSpPr>
        <p:spPr>
          <a:xfrm>
            <a:off x="723900" y="3409950"/>
            <a:ext cx="76200" cy="762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short-i4"/>
          <p:cNvSpPr txBox="1"/>
          <p:nvPr/>
        </p:nvSpPr>
        <p:spPr>
          <a:xfrm>
            <a:off x="952500" y="3295650"/>
            <a:ext cx="571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22314A"/>
                </a:solidFill>
                <a:latin typeface="MiSans"/>
                <a:ea typeface="MiSans"/>
              </a:rPr>
              <a:t>小程序与网页版双端功能对齐</a:t>
            </a:r>
          </a:p>
        </p:txBody>
      </p:sp>
      <p:cxnSp>
        <p:nvCxnSpPr>
          <p:cNvPr id="14" name="dsl:mid-divider"/>
          <p:cNvCxnSpPr/>
          <p:nvPr/>
        </p:nvCxnSpPr>
        <p:spPr>
          <a:xfrm>
            <a:off x="685800" y="3924300"/>
            <a:ext cx="6096000" cy="0"/>
          </a:xfrm>
          <a:prstGeom prst="straightConnector1">
            <a:avLst/>
          </a:prstGeom>
          <a:ln w="127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mid-head"/>
          <p:cNvSpPr txBox="1"/>
          <p:nvPr/>
        </p:nvSpPr>
        <p:spPr>
          <a:xfrm>
            <a:off x="685800" y="4171950"/>
            <a:ext cx="3810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63B6E"/>
                </a:solidFill>
                <a:latin typeface="MiSans"/>
                <a:ea typeface="MiSans"/>
              </a:rPr>
              <a:t>中期</a:t>
            </a:r>
          </a:p>
        </p:txBody>
      </p:sp>
      <p:sp>
        <p:nvSpPr>
          <p:cNvPr id="16" name="dsl:mid-i1-dot"/>
          <p:cNvSpPr/>
          <p:nvPr/>
        </p:nvSpPr>
        <p:spPr>
          <a:xfrm>
            <a:off x="723900" y="4667250"/>
            <a:ext cx="76200" cy="762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mid-i1"/>
          <p:cNvSpPr txBox="1"/>
          <p:nvPr/>
        </p:nvSpPr>
        <p:spPr>
          <a:xfrm>
            <a:off x="952500" y="4552950"/>
            <a:ext cx="571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22314A"/>
                </a:solidFill>
                <a:latin typeface="MiSans"/>
                <a:ea typeface="MiSans"/>
              </a:rPr>
              <a:t>iOS 版(技术评估已完成)</a:t>
            </a:r>
          </a:p>
        </p:txBody>
      </p:sp>
      <p:sp>
        <p:nvSpPr>
          <p:cNvPr id="18" name="dsl:mid-i2-dot"/>
          <p:cNvSpPr/>
          <p:nvPr/>
        </p:nvSpPr>
        <p:spPr>
          <a:xfrm>
            <a:off x="723900" y="5048250"/>
            <a:ext cx="76200" cy="762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mid-i2"/>
          <p:cNvSpPr txBox="1"/>
          <p:nvPr/>
        </p:nvSpPr>
        <p:spPr>
          <a:xfrm>
            <a:off x="952500" y="4933950"/>
            <a:ext cx="5715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75" noProof="1">
                <a:solidFill>
                  <a:srgbClr val="22314A"/>
                </a:solidFill>
                <a:latin typeface="MiSans"/>
                <a:ea typeface="MiSans"/>
              </a:rPr>
              <a:t>课表工具(问卷验证中)</a:t>
            </a:r>
          </a:p>
        </p:txBody>
      </p:sp>
      <p:sp>
        <p:nvSpPr>
          <p:cNvPr id="20" name="dsl:cost-card"/>
          <p:cNvSpPr/>
          <p:nvPr/>
        </p:nvSpPr>
        <p:spPr>
          <a:xfrm>
            <a:off x="7239000" y="1771650"/>
            <a:ext cx="4267200" cy="348615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cost-label"/>
          <p:cNvSpPr txBox="1"/>
          <p:nvPr/>
        </p:nvSpPr>
        <p:spPr>
          <a:xfrm>
            <a:off x="7620000" y="2152650"/>
            <a:ext cx="35052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125" noProof="1">
                <a:solidFill>
                  <a:srgbClr val="B9CCE4"/>
                </a:solidFill>
                <a:latin typeface="MiSans"/>
                <a:ea typeface="MiSans"/>
              </a:rPr>
              <a:t>运营成本</a:t>
            </a:r>
          </a:p>
        </p:txBody>
      </p:sp>
      <p:sp>
        <p:nvSpPr>
          <p:cNvPr id="22" name="dsl:cost-num"/>
          <p:cNvSpPr txBox="1"/>
          <p:nvPr/>
        </p:nvSpPr>
        <p:spPr>
          <a:xfrm>
            <a:off x="7620000" y="2495550"/>
            <a:ext cx="35052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3000" noProof="1">
                <a:solidFill>
                  <a:srgbClr val="FFFFFF"/>
                </a:solidFill>
                <a:latin typeface="MiSans"/>
                <a:ea typeface="MiSans"/>
              </a:rPr>
              <a:t>≈ 15 美元 / 月</a:t>
            </a:r>
          </a:p>
        </p:txBody>
      </p:sp>
      <p:sp>
        <p:nvSpPr>
          <p:cNvPr id="23" name="dsl:cost-note"/>
          <p:cNvSpPr txBox="1"/>
          <p:nvPr/>
        </p:nvSpPr>
        <p:spPr>
          <a:xfrm>
            <a:off x="7620000" y="3238500"/>
            <a:ext cx="35052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noProof="1">
                <a:solidFill>
                  <a:srgbClr val="D8E4F2"/>
                </a:solidFill>
                <a:latin typeface="MiSans"/>
                <a:ea typeface="MiSans"/>
              </a:rPr>
              <a:t>服务器等全部运营成本极低,可由学生自付</a:t>
            </a:r>
          </a:p>
        </p:txBody>
      </p:sp>
      <p:sp>
        <p:nvSpPr>
          <p:cNvPr id="24" name="dsl:cost-badge"/>
          <p:cNvSpPr/>
          <p:nvPr/>
        </p:nvSpPr>
        <p:spPr>
          <a:xfrm>
            <a:off x="7620000" y="4305300"/>
            <a:ext cx="1905000" cy="4953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cost-badge-text"/>
          <p:cNvSpPr txBox="1"/>
          <p:nvPr/>
        </p:nvSpPr>
        <p:spPr>
          <a:xfrm>
            <a:off x="7620000" y="4305300"/>
            <a:ext cx="19050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不申请资金</a:t>
            </a:r>
          </a:p>
        </p:txBody>
      </p:sp>
      <p:sp>
        <p:nvSpPr>
          <p:cNvPr id="26" name="dsl:bottom-note"/>
          <p:cNvSpPr txBox="1"/>
          <p:nvPr/>
        </p:nvSpPr>
        <p:spPr>
          <a:xfrm>
            <a:off x="685800" y="5600700"/>
            <a:ext cx="108204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" noProof="1">
                <a:solidFill>
                  <a:srgbClr val="5D6F88"/>
                </a:solidFill>
                <a:latin typeface="MiSans"/>
                <a:ea typeface="MiSans"/>
              </a:rPr>
              <a:t>规划全部围绕学生真实需求推进,成本极低、风险可控</a:t>
            </a:r>
          </a:p>
        </p:txBody>
      </p:sp>
      <p:sp>
        <p:nvSpPr>
          <p:cNvPr id="27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8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Q6 · 希望的支持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支持优先级:渠道,比资金更有价值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rank-1"/>
          <p:cNvSpPr txBox="1"/>
          <p:nvPr/>
        </p:nvSpPr>
        <p:spPr>
          <a:xfrm>
            <a:off x="685800" y="2000250"/>
            <a:ext cx="5334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163B6E"/>
                </a:solidFill>
                <a:latin typeface="MiSans"/>
                <a:ea typeface="MiSans"/>
              </a:rPr>
              <a:t>01</a:t>
            </a:r>
          </a:p>
        </p:txBody>
      </p:sp>
      <p:sp>
        <p:nvSpPr>
          <p:cNvPr id="6" name="dsl:bar-1"/>
          <p:cNvSpPr/>
          <p:nvPr/>
        </p:nvSpPr>
        <p:spPr>
          <a:xfrm>
            <a:off x="1428750" y="2000250"/>
            <a:ext cx="7905750" cy="5715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bar-1-text"/>
          <p:cNvSpPr txBox="1"/>
          <p:nvPr/>
        </p:nvSpPr>
        <p:spPr>
          <a:xfrm>
            <a:off x="1695450" y="2000250"/>
            <a:ext cx="7334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官方信任与渠道</a:t>
            </a:r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 · 现阶段最优先</a:t>
            </a:r>
          </a:p>
        </p:txBody>
      </p:sp>
      <p:sp>
        <p:nvSpPr>
          <p:cNvPr id="8" name="dsl:rank-2"/>
          <p:cNvSpPr txBox="1"/>
          <p:nvPr/>
        </p:nvSpPr>
        <p:spPr>
          <a:xfrm>
            <a:off x="685800" y="2800350"/>
            <a:ext cx="5334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163B6E"/>
                </a:solidFill>
                <a:latin typeface="MiSans"/>
                <a:ea typeface="MiSans"/>
              </a:rPr>
              <a:t>02</a:t>
            </a:r>
          </a:p>
        </p:txBody>
      </p:sp>
      <p:sp>
        <p:nvSpPr>
          <p:cNvPr id="9" name="dsl:bar-2"/>
          <p:cNvSpPr/>
          <p:nvPr/>
        </p:nvSpPr>
        <p:spPr>
          <a:xfrm>
            <a:off x="1428750" y="2800350"/>
            <a:ext cx="6381750" cy="571500"/>
          </a:xfrm>
          <a:prstGeom prst="rect">
            <a:avLst/>
          </a:prstGeom>
          <a:solidFill>
            <a:srgbClr val="315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ar-2-text"/>
          <p:cNvSpPr txBox="1"/>
          <p:nvPr/>
        </p:nvSpPr>
        <p:spPr>
          <a:xfrm>
            <a:off x="1695450" y="2800350"/>
            <a:ext cx="5810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法务复核</a:t>
            </a:r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 · 用户协议专业把关</a:t>
            </a:r>
          </a:p>
        </p:txBody>
      </p:sp>
      <p:sp>
        <p:nvSpPr>
          <p:cNvPr id="11" name="dsl:rank-3"/>
          <p:cNvSpPr txBox="1"/>
          <p:nvPr/>
        </p:nvSpPr>
        <p:spPr>
          <a:xfrm>
            <a:off x="685800" y="3600450"/>
            <a:ext cx="5334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163B6E"/>
                </a:solidFill>
                <a:latin typeface="MiSans"/>
                <a:ea typeface="MiSans"/>
              </a:rPr>
              <a:t>03</a:t>
            </a:r>
          </a:p>
        </p:txBody>
      </p:sp>
      <p:sp>
        <p:nvSpPr>
          <p:cNvPr id="12" name="dsl:bar-3"/>
          <p:cNvSpPr/>
          <p:nvPr/>
        </p:nvSpPr>
        <p:spPr>
          <a:xfrm>
            <a:off x="1428750" y="3600450"/>
            <a:ext cx="4857750" cy="571500"/>
          </a:xfrm>
          <a:prstGeom prst="rect">
            <a:avLst/>
          </a:prstGeom>
          <a:solidFill>
            <a:srgbClr val="4E7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ar-3-text"/>
          <p:cNvSpPr txBox="1"/>
          <p:nvPr/>
        </p:nvSpPr>
        <p:spPr>
          <a:xfrm>
            <a:off x="1695450" y="3600450"/>
            <a:ext cx="428625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新生触达渠道</a:t>
            </a:r>
            <a:r>
              <a:rPr sz="1350" noProof="1">
                <a:solidFill>
                  <a:srgbClr val="FFFFFF"/>
                </a:solidFill>
                <a:latin typeface="MiSans"/>
                <a:ea typeface="MiSans"/>
              </a:rPr>
              <a:t> · 迎新场景</a:t>
            </a:r>
          </a:p>
        </p:txBody>
      </p:sp>
      <p:sp>
        <p:nvSpPr>
          <p:cNvPr id="14" name="dsl:rank-4"/>
          <p:cNvSpPr txBox="1"/>
          <p:nvPr/>
        </p:nvSpPr>
        <p:spPr>
          <a:xfrm>
            <a:off x="685800" y="4400550"/>
            <a:ext cx="5334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5D6F88"/>
                </a:solidFill>
                <a:latin typeface="MiSans"/>
                <a:ea typeface="MiSans"/>
              </a:rPr>
              <a:t>04</a:t>
            </a:r>
          </a:p>
        </p:txBody>
      </p:sp>
      <p:sp>
        <p:nvSpPr>
          <p:cNvPr id="15" name="dsl:bar-4"/>
          <p:cNvSpPr/>
          <p:nvPr/>
        </p:nvSpPr>
        <p:spPr>
          <a:xfrm>
            <a:off x="1428750" y="4400550"/>
            <a:ext cx="3333750" cy="5715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bar-4-text"/>
          <p:cNvSpPr txBox="1"/>
          <p:nvPr/>
        </p:nvSpPr>
        <p:spPr>
          <a:xfrm>
            <a:off x="1695450" y="4400550"/>
            <a:ext cx="28575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noProof="1">
                <a:solidFill>
                  <a:srgbClr val="5D6F88"/>
                </a:solidFill>
                <a:latin typeface="MiSans"/>
                <a:ea typeface="MiSans"/>
              </a:rPr>
              <a:t>资金 · 暂不需要</a:t>
            </a:r>
          </a:p>
        </p:txBody>
      </p:sp>
      <p:sp>
        <p:nvSpPr>
          <p:cNvPr id="17" name="dsl:bottom-note-bar"/>
          <p:cNvSpPr/>
          <p:nvPr/>
        </p:nvSpPr>
        <p:spPr>
          <a:xfrm>
            <a:off x="685800" y="5486400"/>
            <a:ext cx="10820400" cy="609600"/>
          </a:xfrm>
          <a:prstGeom prst="rect">
            <a:avLst/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bottom-note-accent"/>
          <p:cNvSpPr/>
          <p:nvPr/>
        </p:nvSpPr>
        <p:spPr>
          <a:xfrm>
            <a:off x="685800" y="5486400"/>
            <a:ext cx="38100" cy="6096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bottom-note"/>
          <p:cNvSpPr txBox="1"/>
          <p:nvPr/>
        </p:nvSpPr>
        <p:spPr>
          <a:xfrm>
            <a:off x="685800" y="5486400"/>
            <a:ext cx="108204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对现阶段而言,一条迎新渠道,比一笔资金更有价值</a:t>
            </a:r>
          </a:p>
        </p:txBody>
      </p:sp>
      <p:sp>
        <p:nvSpPr>
          <p:cNvPr id="20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1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Q7 · 阻碍与请求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95250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四个阻碍,第一件只有学校能解决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ard-1"/>
          <p:cNvSpPr/>
          <p:nvPr/>
        </p:nvSpPr>
        <p:spPr>
          <a:xfrm>
            <a:off x="685800" y="1771650"/>
            <a:ext cx="529590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A38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ard-1-num"/>
          <p:cNvSpPr txBox="1"/>
          <p:nvPr/>
        </p:nvSpPr>
        <p:spPr>
          <a:xfrm>
            <a:off x="914400" y="1962150"/>
            <a:ext cx="381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FA383"/>
                </a:solidFill>
                <a:latin typeface="MiSans"/>
                <a:ea typeface="MiSans"/>
              </a:rPr>
              <a:t>①</a:t>
            </a:r>
          </a:p>
        </p:txBody>
      </p:sp>
      <p:sp>
        <p:nvSpPr>
          <p:cNvPr id="7" name="dsl:card-1-title"/>
          <p:cNvSpPr txBox="1"/>
          <p:nvPr/>
        </p:nvSpPr>
        <p:spPr>
          <a:xfrm>
            <a:off x="1333500" y="1962150"/>
            <a:ext cx="4381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非官方身份的信任缺口</a:t>
            </a:r>
          </a:p>
        </p:txBody>
      </p:sp>
      <p:sp>
        <p:nvSpPr>
          <p:cNvPr id="8" name="dsl:card-1-desc"/>
          <p:cNvSpPr txBox="1"/>
          <p:nvPr/>
        </p:nvSpPr>
        <p:spPr>
          <a:xfrm>
            <a:off x="1333500" y="2286000"/>
            <a:ext cx="4381500" cy="495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学生「不敢发、不敢信」,是冷启动的第一障碍</a:t>
            </a:r>
          </a:p>
        </p:txBody>
      </p:sp>
      <p:sp>
        <p:nvSpPr>
          <p:cNvPr id="9" name="dsl:card-1-badge"/>
          <p:cNvSpPr/>
          <p:nvPr/>
        </p:nvSpPr>
        <p:spPr>
          <a:xfrm>
            <a:off x="1333500" y="2895600"/>
            <a:ext cx="1809750" cy="3048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ard-1-badge-text"/>
          <p:cNvSpPr txBox="1"/>
          <p:nvPr/>
        </p:nvSpPr>
        <p:spPr>
          <a:xfrm>
            <a:off x="1333500" y="2895600"/>
            <a:ext cx="180975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官方背书可直接解决</a:t>
            </a:r>
          </a:p>
        </p:txBody>
      </p:sp>
      <p:sp>
        <p:nvSpPr>
          <p:cNvPr id="11" name="dsl:card-2"/>
          <p:cNvSpPr/>
          <p:nvPr/>
        </p:nvSpPr>
        <p:spPr>
          <a:xfrm>
            <a:off x="6210300" y="1771650"/>
            <a:ext cx="5295900" cy="16002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ard-2-num"/>
          <p:cNvSpPr txBox="1"/>
          <p:nvPr/>
        </p:nvSpPr>
        <p:spPr>
          <a:xfrm>
            <a:off x="6438900" y="1962150"/>
            <a:ext cx="381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②</a:t>
            </a:r>
          </a:p>
        </p:txBody>
      </p:sp>
      <p:sp>
        <p:nvSpPr>
          <p:cNvPr id="13" name="dsl:card-2-title"/>
          <p:cNvSpPr txBox="1"/>
          <p:nvPr/>
        </p:nvSpPr>
        <p:spPr>
          <a:xfrm>
            <a:off x="6858000" y="1962150"/>
            <a:ext cx="4381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新生触达渠道</a:t>
            </a:r>
          </a:p>
        </p:txBody>
      </p:sp>
      <p:sp>
        <p:nvSpPr>
          <p:cNvPr id="14" name="dsl:card-2-desc"/>
          <p:cNvSpPr txBox="1"/>
          <p:nvPr/>
        </p:nvSpPr>
        <p:spPr>
          <a:xfrm>
            <a:off x="6858000" y="2286000"/>
            <a:ext cx="4381500" cy="495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往年仅靠同学个人分享,触达不到每年入学的新生</a:t>
            </a:r>
          </a:p>
        </p:txBody>
      </p:sp>
      <p:sp>
        <p:nvSpPr>
          <p:cNvPr id="15" name="dsl:card-3"/>
          <p:cNvSpPr/>
          <p:nvPr/>
        </p:nvSpPr>
        <p:spPr>
          <a:xfrm>
            <a:off x="685800" y="3600450"/>
            <a:ext cx="5295900" cy="16002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card-3-num"/>
          <p:cNvSpPr txBox="1"/>
          <p:nvPr/>
        </p:nvSpPr>
        <p:spPr>
          <a:xfrm>
            <a:off x="914400" y="3790950"/>
            <a:ext cx="381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③</a:t>
            </a:r>
          </a:p>
        </p:txBody>
      </p:sp>
      <p:sp>
        <p:nvSpPr>
          <p:cNvPr id="17" name="dsl:card-3-title"/>
          <p:cNvSpPr txBox="1"/>
          <p:nvPr/>
        </p:nvSpPr>
        <p:spPr>
          <a:xfrm>
            <a:off x="1333500" y="3790950"/>
            <a:ext cx="4381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法务复核</a:t>
            </a:r>
          </a:p>
        </p:txBody>
      </p:sp>
      <p:sp>
        <p:nvSpPr>
          <p:cNvPr id="18" name="dsl:card-3-desc"/>
          <p:cNvSpPr txBox="1"/>
          <p:nvPr/>
        </p:nvSpPr>
        <p:spPr>
          <a:xfrm>
            <a:off x="1333500" y="4114800"/>
            <a:ext cx="4381500" cy="495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用户协议需要专业把关,恳请学校法务支持</a:t>
            </a:r>
          </a:p>
        </p:txBody>
      </p:sp>
      <p:sp>
        <p:nvSpPr>
          <p:cNvPr id="19" name="dsl:card-4"/>
          <p:cNvSpPr/>
          <p:nvPr/>
        </p:nvSpPr>
        <p:spPr>
          <a:xfrm>
            <a:off x="6210300" y="3600450"/>
            <a:ext cx="5295900" cy="1600200"/>
          </a:xfrm>
          <a:prstGeom prst="rect">
            <a:avLst/>
          </a:prstGeom>
          <a:solidFill>
            <a:srgbClr val="F6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card-4-num"/>
          <p:cNvSpPr txBox="1"/>
          <p:nvPr/>
        </p:nvSpPr>
        <p:spPr>
          <a:xfrm>
            <a:off x="6438900" y="3790950"/>
            <a:ext cx="381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63B6E"/>
                </a:solidFill>
                <a:latin typeface="MiSans"/>
                <a:ea typeface="MiSans"/>
              </a:rPr>
              <a:t>④</a:t>
            </a:r>
          </a:p>
        </p:txBody>
      </p:sp>
      <p:sp>
        <p:nvSpPr>
          <p:cNvPr id="21" name="dsl:card-4-title"/>
          <p:cNvSpPr txBox="1"/>
          <p:nvPr/>
        </p:nvSpPr>
        <p:spPr>
          <a:xfrm>
            <a:off x="6858000" y="3790950"/>
            <a:ext cx="4381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425" noProof="1">
                <a:solidFill>
                  <a:srgbClr val="22314A"/>
                </a:solidFill>
                <a:latin typeface="MiSans"/>
                <a:ea typeface="MiSans"/>
              </a:rPr>
              <a:t>内容治理协同</a:t>
            </a:r>
          </a:p>
        </p:txBody>
      </p:sp>
      <p:sp>
        <p:nvSpPr>
          <p:cNvPr id="22" name="dsl:card-4-desc"/>
          <p:cNvSpPr txBox="1"/>
          <p:nvPr/>
        </p:nvSpPr>
        <p:spPr>
          <a:xfrm>
            <a:off x="6858000" y="4114800"/>
            <a:ext cx="4381500" cy="4953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D6F88"/>
                </a:solidFill>
                <a:latin typeface="MiSans"/>
                <a:ea typeface="MiSans"/>
              </a:rPr>
              <a:t>平台已合规运营,愿意配合学校建立监督机制</a:t>
            </a:r>
          </a:p>
        </p:txBody>
      </p:sp>
      <p:sp>
        <p:nvSpPr>
          <p:cNvPr id="23" name="dsl:bottom-note"/>
          <p:cNvSpPr txBox="1"/>
          <p:nvPr/>
        </p:nvSpPr>
        <p:spPr>
          <a:xfrm>
            <a:off x="685800" y="5581650"/>
            <a:ext cx="108204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75" noProof="1">
                <a:solidFill>
                  <a:srgbClr val="163B6E"/>
                </a:solidFill>
                <a:latin typeface="MiSans"/>
                <a:ea typeface="MiSans"/>
              </a:rPr>
              <a:t>其中第一项,正是官方背书能直接解决的</a:t>
            </a:r>
          </a:p>
        </p:txBody>
      </p:sp>
      <p:sp>
        <p:nvSpPr>
          <p:cNvPr id="24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5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kicker|s=$kicker"/>
          <p:cNvSpPr txBox="1"/>
          <p:nvPr/>
        </p:nvSpPr>
        <p:spPr>
          <a:xfrm>
            <a:off x="685800" y="419100"/>
            <a:ext cx="57150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225">
                <a:solidFill>
                  <a:srgbClr val="1FA383"/>
                </a:solidFill>
                <a:latin typeface="MiSans"/>
                <a:ea typeface="MiSans"/>
              </a:rPr>
              <a:t>时间窗口</a:t>
            </a:r>
          </a:p>
        </p:txBody>
      </p:sp>
      <p:sp>
        <p:nvSpPr>
          <p:cNvPr id="3" name="dsl:title|s=$pageTitle"/>
          <p:cNvSpPr txBox="1"/>
          <p:nvPr/>
        </p:nvSpPr>
        <p:spPr>
          <a:xfrm>
            <a:off x="685800" y="666750"/>
            <a:ext cx="10477500" cy="4191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250" noProof="1">
                <a:solidFill>
                  <a:srgbClr val="163B6E"/>
                </a:solidFill>
                <a:latin typeface="MiSans"/>
                <a:ea typeface="MiSans"/>
              </a:rPr>
              <a:t>选课高峰在开学前两周,全年仅此一次</a:t>
            </a:r>
          </a:p>
        </p:txBody>
      </p:sp>
      <p:sp>
        <p:nvSpPr>
          <p:cNvPr id="4" name="dsl:title-bar"/>
          <p:cNvSpPr/>
          <p:nvPr/>
        </p:nvSpPr>
        <p:spPr>
          <a:xfrm>
            <a:off x="685800" y="1200150"/>
            <a:ext cx="609600" cy="3810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lead|s=$body"/>
          <p:cNvSpPr txBox="1"/>
          <p:nvPr/>
        </p:nvSpPr>
        <p:spPr>
          <a:xfrm>
            <a:off x="685800" y="1600200"/>
            <a:ext cx="108204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55000"/>
              </a:lnSpc>
            </a:pPr>
            <a:r>
              <a:rPr sz="1425" noProof="1">
                <a:solidFill>
                  <a:srgbClr val="22314A"/>
                </a:solidFill>
                <a:latin typeface="MiSans"/>
                <a:ea typeface="MiSans"/>
              </a:rPr>
              <a:t>选课 add/drop 高峰集中在开学前两周——是全年最大的需求窗口</a:t>
            </a:r>
          </a:p>
        </p:txBody>
      </p:sp>
      <p:cxnSp>
        <p:nvCxnSpPr>
          <p:cNvPr id="6" name="dsl:tl-line"/>
          <p:cNvCxnSpPr/>
          <p:nvPr/>
        </p:nvCxnSpPr>
        <p:spPr>
          <a:xfrm>
            <a:off x="1524000" y="3810000"/>
            <a:ext cx="9144000" cy="0"/>
          </a:xfrm>
          <a:prstGeom prst="straightConnector1">
            <a:avLst/>
          </a:prstGeom>
          <a:ln w="25400">
            <a:solidFill>
              <a:srgbClr val="D9E3E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node-1"/>
          <p:cNvSpPr/>
          <p:nvPr/>
        </p:nvSpPr>
        <p:spPr>
          <a:xfrm>
            <a:off x="2209800" y="3733800"/>
            <a:ext cx="152400" cy="152400"/>
          </a:xfrm>
          <a:prstGeom prst="ellipse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node-1-label"/>
          <p:cNvSpPr txBox="1"/>
          <p:nvPr/>
        </p:nvSpPr>
        <p:spPr>
          <a:xfrm>
            <a:off x="1333500" y="331470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75" noProof="1">
                <a:solidFill>
                  <a:srgbClr val="22314A"/>
                </a:solidFill>
                <a:latin typeface="MiSans"/>
                <a:ea typeface="MiSans"/>
              </a:rPr>
              <a:t>现在 · 9 月初</a:t>
            </a:r>
          </a:p>
        </p:txBody>
      </p:sp>
      <p:sp>
        <p:nvSpPr>
          <p:cNvPr id="9" name="dsl:node-1-sub|s=$small"/>
          <p:cNvSpPr txBox="1"/>
          <p:nvPr/>
        </p:nvSpPr>
        <p:spPr>
          <a:xfrm>
            <a:off x="1333500" y="4038600"/>
            <a:ext cx="190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恳请背书流程启动</a:t>
            </a:r>
          </a:p>
        </p:txBody>
      </p:sp>
      <p:sp>
        <p:nvSpPr>
          <p:cNvPr id="10" name="dsl:node-2"/>
          <p:cNvSpPr/>
          <p:nvPr/>
        </p:nvSpPr>
        <p:spPr>
          <a:xfrm>
            <a:off x="5924550" y="3638550"/>
            <a:ext cx="342900" cy="34290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node-2-label"/>
          <p:cNvSpPr txBox="1"/>
          <p:nvPr/>
        </p:nvSpPr>
        <p:spPr>
          <a:xfrm>
            <a:off x="4762500" y="2819400"/>
            <a:ext cx="26670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650" noProof="1">
                <a:solidFill>
                  <a:srgbClr val="163B6E"/>
                </a:solidFill>
                <a:latin typeface="MiSans"/>
                <a:ea typeface="MiSans"/>
              </a:rPr>
              <a:t>开学 · 选课高峰</a:t>
            </a:r>
          </a:p>
        </p:txBody>
      </p:sp>
      <p:sp>
        <p:nvSpPr>
          <p:cNvPr id="12" name="dsl:node-2-sub1"/>
          <p:cNvSpPr txBox="1"/>
          <p:nvPr/>
        </p:nvSpPr>
        <p:spPr>
          <a:xfrm>
            <a:off x="4762500" y="3162300"/>
            <a:ext cx="2667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5D6F88"/>
                </a:solidFill>
                <a:latin typeface="MiSans"/>
                <a:ea typeface="MiSans"/>
              </a:rPr>
              <a:t>开学前两周,需求最集中</a:t>
            </a:r>
          </a:p>
        </p:txBody>
      </p:sp>
      <p:sp>
        <p:nvSpPr>
          <p:cNvPr id="13" name="dsl:node-2-sub2"/>
          <p:cNvSpPr txBox="1"/>
          <p:nvPr/>
        </p:nvSpPr>
        <p:spPr>
          <a:xfrm>
            <a:off x="4762500" y="4152900"/>
            <a:ext cx="2667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050" noProof="1">
                <a:solidFill>
                  <a:srgbClr val="1FA383"/>
                </a:solidFill>
                <a:latin typeface="MiSans"/>
                <a:ea typeface="MiSans"/>
              </a:rPr>
              <a:t>需求窗口,全年仅此一次</a:t>
            </a:r>
          </a:p>
        </p:txBody>
      </p:sp>
      <p:sp>
        <p:nvSpPr>
          <p:cNvPr id="14" name="dsl:node-3"/>
          <p:cNvSpPr/>
          <p:nvPr/>
        </p:nvSpPr>
        <p:spPr>
          <a:xfrm>
            <a:off x="9829800" y="3733800"/>
            <a:ext cx="152400" cy="152400"/>
          </a:xfrm>
          <a:prstGeom prst="ellipse">
            <a:avLst/>
          </a:prstGeom>
          <a:solidFill>
            <a:srgbClr val="D9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node-3-label"/>
          <p:cNvSpPr txBox="1"/>
          <p:nvPr/>
        </p:nvSpPr>
        <p:spPr>
          <a:xfrm>
            <a:off x="8953500" y="3314700"/>
            <a:ext cx="1905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275" noProof="1">
                <a:solidFill>
                  <a:srgbClr val="5D6F88"/>
                </a:solidFill>
                <a:latin typeface="MiSans"/>
                <a:ea typeface="MiSans"/>
              </a:rPr>
              <a:t>窗口之后</a:t>
            </a:r>
          </a:p>
        </p:txBody>
      </p:sp>
      <p:sp>
        <p:nvSpPr>
          <p:cNvPr id="16" name="dsl:node-3-sub|s=$small"/>
          <p:cNvSpPr txBox="1"/>
          <p:nvPr/>
        </p:nvSpPr>
        <p:spPr>
          <a:xfrm>
            <a:off x="8953500" y="4038600"/>
            <a:ext cx="190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975" noProof="1">
                <a:solidFill>
                  <a:srgbClr val="5D6F88"/>
                </a:solidFill>
                <a:latin typeface="MiSans"/>
                <a:ea typeface="MiSans"/>
              </a:rPr>
              <a:t>错过再等一年</a:t>
            </a:r>
          </a:p>
        </p:txBody>
      </p:sp>
      <p:sp>
        <p:nvSpPr>
          <p:cNvPr id="17" name="dsl:ask-bar"/>
          <p:cNvSpPr/>
          <p:nvPr/>
        </p:nvSpPr>
        <p:spPr>
          <a:xfrm>
            <a:off x="685800" y="5143500"/>
            <a:ext cx="10820400" cy="762000"/>
          </a:xfrm>
          <a:prstGeom prst="rect">
            <a:avLst/>
          </a:prstGeom>
          <a:solidFill>
            <a:srgbClr val="16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ask-bar-text"/>
          <p:cNvSpPr txBox="1"/>
          <p:nvPr/>
        </p:nvSpPr>
        <p:spPr>
          <a:xfrm>
            <a:off x="685800" y="5143500"/>
            <a:ext cx="108204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500" noProof="1">
                <a:solidFill>
                  <a:srgbClr val="FFFFFF"/>
                </a:solidFill>
                <a:latin typeface="MiSans"/>
                <a:ea typeface="MiSans"/>
              </a:rPr>
              <a:t>恳请学校在两周内,明确背书流程与时间预期</a:t>
            </a:r>
          </a:p>
        </p:txBody>
      </p:sp>
      <p:sp>
        <p:nvSpPr>
          <p:cNvPr id="19" name="dsl:footer-left|s=$small"/>
          <p:cNvSpPr txBox="1"/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HKMU Campus Platform · 学生自主开发</a:t>
            </a:r>
          </a:p>
        </p:txBody>
      </p:sp>
      <p:sp>
        <p:nvSpPr>
          <p:cNvPr id="20" name="dsl:footer-right|s=$small"/>
          <p:cNvSpPr txBox="1"/>
          <p:nvPr/>
        </p:nvSpPr>
        <p:spPr>
          <a:xfrm>
            <a:off x="10287000" y="6496050"/>
            <a:ext cx="1219200" cy="1714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900" noProof="1">
                <a:solidFill>
                  <a:srgbClr val="5D6F88"/>
                </a:solidFill>
                <a:latin typeface="MiSans"/>
                <a:ea typeface="MiSan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63B6E"/>
            </a:gs>
            <a:gs pos="100000">
              <a:srgbClr val="0E2A50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ring-1"/>
          <p:cNvSpPr/>
          <p:nvPr/>
        </p:nvSpPr>
        <p:spPr>
          <a:xfrm>
            <a:off x="228600" y="4381500"/>
            <a:ext cx="2286000" cy="2286000"/>
          </a:xfrm>
          <a:prstGeom prst="donut">
            <a:avLst>
              <a:gd name="adj" fmla="val 4000"/>
            </a:avLst>
          </a:prstGeom>
          <a:solidFill>
            <a:srgbClr val="FFFFFF">
              <a:alpha val="392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ring-2"/>
          <p:cNvSpPr/>
          <p:nvPr/>
        </p:nvSpPr>
        <p:spPr>
          <a:xfrm>
            <a:off x="9334500" y="4000500"/>
            <a:ext cx="2476500" cy="2476500"/>
          </a:xfrm>
          <a:prstGeom prst="donut">
            <a:avLst>
              <a:gd name="adj" fmla="val 5000"/>
            </a:avLst>
          </a:prstGeom>
          <a:solidFill>
            <a:srgbClr val="FFFFFF">
              <a:alpha val="313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eco-dot"/>
          <p:cNvSpPr/>
          <p:nvPr/>
        </p:nvSpPr>
        <p:spPr>
          <a:xfrm>
            <a:off x="3429000" y="1714500"/>
            <a:ext cx="133350" cy="133350"/>
          </a:xfrm>
          <a:prstGeom prst="ellipse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kicker"/>
          <p:cNvSpPr txBox="1"/>
          <p:nvPr/>
        </p:nvSpPr>
        <p:spPr>
          <a:xfrm>
            <a:off x="4191000" y="1809750"/>
            <a:ext cx="3810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 spc="300">
                <a:solidFill>
                  <a:srgbClr val="8FB8DF"/>
                </a:solidFill>
                <a:latin typeface="MiSans"/>
                <a:ea typeface="MiSans"/>
              </a:rPr>
              <a:t>THANK YOU · 感谢聆听</a:t>
            </a:r>
          </a:p>
        </p:txBody>
      </p:sp>
      <p:sp>
        <p:nvSpPr>
          <p:cNvPr id="6" name="dsl:main-line"/>
          <p:cNvSpPr txBox="1"/>
          <p:nvPr/>
        </p:nvSpPr>
        <p:spPr>
          <a:xfrm>
            <a:off x="1333500" y="2381250"/>
            <a:ext cx="9525000" cy="1238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1950" noProof="1">
                <a:solidFill>
                  <a:srgbClr val="D8E4F2"/>
                </a:solidFill>
                <a:latin typeface="MiSans"/>
                <a:ea typeface="MiSans"/>
              </a:rPr>
              <a:t>学生自建 · 合规运营 · 数据核验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b="1" sz="3150" noProof="1">
                <a:solidFill>
                  <a:srgbClr val="FFFFFF"/>
                </a:solidFill>
                <a:latin typeface="MiSans"/>
                <a:ea typeface="MiSans"/>
              </a:rPr>
              <a:t>等待一个官方认可的机会</a:t>
            </a:r>
          </a:p>
        </p:txBody>
      </p:sp>
      <p:sp>
        <p:nvSpPr>
          <p:cNvPr id="7" name="dsl:accent-bar"/>
          <p:cNvSpPr/>
          <p:nvPr/>
        </p:nvSpPr>
        <p:spPr>
          <a:xfrm>
            <a:off x="5753100" y="3924300"/>
            <a:ext cx="685800" cy="57150"/>
          </a:xfrm>
          <a:prstGeom prst="rect">
            <a:avLst/>
          </a:prstGeom>
          <a:solidFill>
            <a:srgbClr val="1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thanks"/>
          <p:cNvSpPr txBox="1"/>
          <p:nvPr/>
        </p:nvSpPr>
        <p:spPr>
          <a:xfrm>
            <a:off x="4191000" y="43053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D8E4F2"/>
                </a:solidFill>
                <a:latin typeface="MiSans"/>
                <a:ea typeface="MiSans"/>
              </a:rPr>
              <a:t>感谢聆听,恳请指导</a:t>
            </a:r>
          </a:p>
        </p:txBody>
      </p:sp>
      <p:sp>
        <p:nvSpPr>
          <p:cNvPr id="9" name="dsl:meta"/>
          <p:cNvSpPr txBox="1"/>
          <p:nvPr/>
        </p:nvSpPr>
        <p:spPr>
          <a:xfrm>
            <a:off x="3238500" y="5715000"/>
            <a:ext cx="571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9FB4CF"/>
                </a:solidFill>
                <a:latin typeface="MiSans"/>
                <a:ea typeface="MiSans"/>
              </a:rPr>
              <a:t>HKMU Campus Platform · 汇报人:SYF · 2026-09-05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63B6E"/>
    <Color name="primaryDeep" value="#0E2A50"/>
    <Color name="blueSoft" value="#E9F1FA"/>
    <Color name="accent" value="#1FA383"/>
    <Color name="bgSoft" value="#F6F9FD"/>
    <Color name="text" value="#22314A"/>
    <Color name="secondary" value="#5D6F88"/>
    <Color name="line" value="#D9E3EF"/>
  </Colors>
  <TextStyles>
    <TextStyle name="pageTitle" font_size="30.0" color="$primary" font_family="MiSans"/>
    <TextStyle name="kicker" font_size="13.0" color="$accent" font_family="MiSans" letter_spacing="3.0"/>
    <TextStyle name="body" font_size="18.0" color="$text" font_family="MiSans" line_height="1.55"/>
    <TextStyle name="small" font_size="13.0" color="$secondary" font_family="MiSans" line_height="1.4"/>
  </TextStyles>
</DslMetadata>
</file>

<file path=customXml/itemProps1.xml><?xml version="1.0" encoding="utf-8"?>
<ns0:datastoreItem xmlns:ns0="http://schemas.openxmlformats.org/officeDocument/2006/customXml" ns0:itemID="{8B9B9302-0D29-43D0-A7DA-DF6189FA44B6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